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3"/>
    <p:sldId id="342" r:id="rId4"/>
    <p:sldId id="363" r:id="rId5"/>
    <p:sldId id="364" r:id="rId6"/>
    <p:sldId id="365" r:id="rId7"/>
    <p:sldId id="410" r:id="rId8"/>
    <p:sldId id="320" r:id="rId9"/>
    <p:sldId id="321" r:id="rId10"/>
    <p:sldId id="322" r:id="rId11"/>
    <p:sldId id="323" r:id="rId12"/>
    <p:sldId id="326" r:id="rId13"/>
    <p:sldId id="411" r:id="rId14"/>
    <p:sldId id="327" r:id="rId15"/>
    <p:sldId id="412" r:id="rId16"/>
    <p:sldId id="329" r:id="rId17"/>
    <p:sldId id="330" r:id="rId18"/>
    <p:sldId id="334" r:id="rId19"/>
    <p:sldId id="335" r:id="rId20"/>
    <p:sldId id="336" r:id="rId21"/>
    <p:sldId id="337" r:id="rId22"/>
    <p:sldId id="338" r:id="rId23"/>
    <p:sldId id="339" r:id="rId24"/>
    <p:sldId id="340" r:id="rId25"/>
    <p:sldId id="341" r:id="rId26"/>
  </p:sldIdLst>
  <p:sldSz cx="12192000" cy="6858000"/>
  <p:notesSz cx="7103745" cy="10234295"/>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35B85"/>
    <a:srgbClr val="CC9900"/>
    <a:srgbClr val="FFFF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9" d="100"/>
          <a:sy n="79" d="100"/>
        </p:scale>
        <p:origin x="15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gs" Target="tags/tag5.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0" y="1157605"/>
            <a:ext cx="10515600" cy="1996440"/>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cxnSp>
        <p:nvCxnSpPr>
          <p:cNvPr id="13" name="Straight Connector 13"/>
          <p:cNvCxnSpPr>
            <a:cxnSpLocks noChangeShapeType="1"/>
          </p:cNvCxnSpPr>
          <p:nvPr userDrawn="1">
            <p:custDataLst>
              <p:tags r:id="rId2"/>
            </p:custDataLst>
          </p:nvPr>
        </p:nvCxnSpPr>
        <p:spPr bwMode="auto">
          <a:xfrm flipH="1" flipV="1">
            <a:off x="43815" y="3704590"/>
            <a:ext cx="6981825" cy="5080"/>
          </a:xfrm>
          <a:prstGeom prst="line">
            <a:avLst/>
          </a:prstGeom>
          <a:ln w="38100">
            <a:headEnd type="oval" w="med" len="med"/>
          </a:ln>
          <a:extLst>
            <a:ext uri="{909E8E84-426E-40DD-AFC4-6F175D3DCCD1}">
              <a14:hiddenFill xmlns:a14="http://schemas.microsoft.com/office/drawing/2010/main">
                <a:noFill/>
              </a14:hiddenFill>
            </a:ext>
          </a:extLst>
        </p:spPr>
        <p:style>
          <a:lnRef idx="3">
            <a:schemeClr val="accent2"/>
          </a:lnRef>
          <a:fillRef idx="0">
            <a:schemeClr val="accent2"/>
          </a:fillRef>
          <a:effectRef idx="2">
            <a:schemeClr val="accent2"/>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6" name="文本占位符 2"/>
          <p:cNvSpPr>
            <a:spLocks noGrp="1"/>
          </p:cNvSpPr>
          <p:nvPr>
            <p:ph idx="1"/>
          </p:nvPr>
        </p:nvSpPr>
        <p:spPr bwMode="auto">
          <a:xfrm>
            <a:off x="624417" y="1350645"/>
            <a:ext cx="10972800" cy="4526280"/>
          </a:xfrm>
          <a:prstGeom prst="rect">
            <a:avLst/>
          </a:prstGeom>
          <a:noFill/>
          <a:ln>
            <a:noFill/>
          </a:ln>
        </p:spPr>
        <p:txBody>
          <a:bodyPr/>
          <a:lstStyle/>
          <a:p>
            <a:pPr lvl="0" fontAlgn="base"/>
            <a:r>
              <a:rPr lang="zh-CN" altLang="en-US" strike="noStrike" noProof="0"/>
              <a:t>单击此处编辑母版文本样式</a:t>
            </a:r>
            <a:endParaRPr lang="zh-CN" altLang="en-US" strike="noStrike" noProof="0"/>
          </a:p>
          <a:p>
            <a:pPr lvl="1" fontAlgn="base"/>
            <a:r>
              <a:rPr lang="zh-CN" altLang="en-US" strike="noStrike" noProof="0"/>
              <a:t>第二级</a:t>
            </a:r>
            <a:endParaRPr lang="zh-CN" altLang="en-US" strike="noStrike" noProof="0"/>
          </a:p>
          <a:p>
            <a:pPr lvl="2" fontAlgn="base"/>
            <a:r>
              <a:rPr lang="zh-CN" altLang="en-US" strike="noStrike" noProof="0"/>
              <a:t>第三级</a:t>
            </a:r>
            <a:endParaRPr lang="zh-CN" altLang="en-US" strike="noStrike" noProof="0"/>
          </a:p>
          <a:p>
            <a:pPr lvl="3" fontAlgn="base"/>
            <a:r>
              <a:rPr lang="zh-CN" altLang="en-US" strike="noStrike" noProof="0"/>
              <a:t>第四级</a:t>
            </a:r>
            <a:endParaRPr lang="zh-CN" altLang="en-US" strike="noStrike" noProof="0"/>
          </a:p>
          <a:p>
            <a:pPr lvl="4" fontAlgn="base"/>
            <a:r>
              <a:rPr lang="zh-CN" altLang="en-US" strike="noStrike" noProof="0"/>
              <a:t>第五级</a:t>
            </a:r>
            <a:endParaRPr lang="zh-CN" altLang="en-US" strike="noStrike" noProof="0" dirty="0"/>
          </a:p>
        </p:txBody>
      </p:sp>
      <p:sp>
        <p:nvSpPr>
          <p:cNvPr id="3" name="日期占位符 2"/>
          <p:cNvSpPr>
            <a:spLocks noGrp="1"/>
          </p:cNvSpPr>
          <p:nvPr>
            <p:ph type="dt" sz="half" idx="10"/>
          </p:nvPr>
        </p:nvSpPr>
        <p:spPr>
          <a:xfrm>
            <a:off x="609600" y="6243638"/>
            <a:ext cx="2844800" cy="476250"/>
          </a:xfrm>
          <a:prstGeom prst="rect">
            <a:avLst/>
          </a:prstGeom>
        </p:spPr>
        <p:txBody>
          <a:bodyPr vert="horz" lIns="91440" tIns="45720" rIns="91440" bIns="45720" rtlCol="0" anchor="ctr"/>
          <a:lstStyle/>
          <a:p>
            <a:pPr marL="0" marR="0" indent="0" defTabSz="914400" rtl="0">
              <a:lnSpc>
                <a:spcPct val="100000"/>
              </a:lnSpc>
              <a:buClrTx/>
              <a:buSzTx/>
              <a:buFontTx/>
              <a:buNone/>
              <a:defRPr/>
            </a:pPr>
            <a:endParaRPr kumimoji="0" lang="zh-CN" altLang="en-US" b="0" i="0" kern="1200" cap="none" spc="0" normalizeH="0" baseline="0" noProof="0">
              <a:latin typeface="+mn-lt"/>
              <a:ea typeface="+mn-ea"/>
              <a:cs typeface="+mn-cs"/>
            </a:endParaRPr>
          </a:p>
        </p:txBody>
      </p:sp>
      <p:sp>
        <p:nvSpPr>
          <p:cNvPr id="4" name="页脚占位符 3"/>
          <p:cNvSpPr>
            <a:spLocks noGrp="1"/>
          </p:cNvSpPr>
          <p:nvPr>
            <p:ph type="ftr" sz="quarter" idx="11"/>
          </p:nvPr>
        </p:nvSpPr>
        <p:spPr>
          <a:xfrm>
            <a:off x="4165600" y="6243638"/>
            <a:ext cx="3860800" cy="476250"/>
          </a:xfrm>
          <a:prstGeom prst="rect">
            <a:avLst/>
          </a:prstGeom>
        </p:spPr>
        <p:txBody>
          <a:bodyPr vert="horz" lIns="91440" tIns="45720" rIns="91440" bIns="45720" rtlCol="0" anchor="ctr"/>
          <a:lstStyle/>
          <a:p>
            <a:pPr marL="0" marR="0" indent="0" algn="ctr" defTabSz="914400" rtl="0">
              <a:lnSpc>
                <a:spcPct val="100000"/>
              </a:lnSpc>
              <a:buClrTx/>
              <a:buSzTx/>
              <a:buFontTx/>
              <a:buNone/>
              <a:defRPr/>
            </a:pPr>
            <a:endParaRPr kumimoji="0" lang="zh-CN" altLang="en-US" b="0" i="0" kern="1200" cap="none" spc="0" normalizeH="0" baseline="0" noProof="0">
              <a:latin typeface="+mn-lt"/>
              <a:ea typeface="+mn-ea"/>
              <a:cs typeface="+mn-cs"/>
            </a:endParaRPr>
          </a:p>
        </p:txBody>
      </p:sp>
      <p:sp>
        <p:nvSpPr>
          <p:cNvPr id="5" name="灯片编号占位符 4"/>
          <p:cNvSpPr>
            <a:spLocks noGrp="1"/>
          </p:cNvSpPr>
          <p:nvPr>
            <p:ph type="sldNum" sz="quarter" idx="12"/>
          </p:nvPr>
        </p:nvSpPr>
        <p:spPr>
          <a:xfrm>
            <a:off x="8737600" y="6243638"/>
            <a:ext cx="2844800" cy="476250"/>
          </a:xfrm>
          <a:prstGeom prst="rect">
            <a:avLst/>
          </a:prstGeom>
        </p:spPr>
        <p:txBody>
          <a:bodyPr vert="horz" wrap="square" lIns="91440" tIns="45720" rIns="91440" bIns="45720" numCol="1" anchor="ctr" anchorCtr="0" compatLnSpc="1"/>
          <a:lstStyle/>
          <a:p>
            <a:pPr algn="r" fontAlgn="base"/>
            <a:fld id="{9A0DB2DC-4C9A-4742-B13C-FB6460FD3503}" type="slidenum">
              <a:rPr lang="zh-CN" altLang="en-US" sz="1600" noProof="1" dirty="0">
                <a:solidFill>
                  <a:srgbClr val="898989"/>
                </a:solidFill>
                <a:latin typeface="Calibri" panose="020F0502020204030204" charset="0"/>
                <a:ea typeface="黑体" panose="02010609060101010101" charset="-122"/>
                <a:cs typeface="+mn-ea"/>
              </a:rPr>
            </a:fld>
            <a:endParaRPr lang="zh-CN" altLang="en-US" sz="1600" noProof="1">
              <a:solidFill>
                <a:srgbClr val="898989"/>
              </a:solidFill>
              <a:ea typeface="黑体" panose="02010609060101010101"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reserve="1">
  <p:cSld name="标题，剪贴画与文本">
    <p:spTree>
      <p:nvGrpSpPr>
        <p:cNvPr id="1" name=""/>
        <p:cNvGrpSpPr/>
        <p:nvPr/>
      </p:nvGrpSpPr>
      <p:grpSpPr>
        <a:xfrm>
          <a:off x="0" y="0"/>
          <a:ext cx="0" cy="0"/>
          <a:chOff x="0" y="0"/>
          <a:chExt cx="0" cy="0"/>
        </a:xfrm>
      </p:grpSpPr>
      <p:sp>
        <p:nvSpPr>
          <p:cNvPr id="2" name="标题 1"/>
          <p:cNvSpPr>
            <a:spLocks noGrp="1"/>
          </p:cNvSpPr>
          <p:nvPr>
            <p:ph type="title"/>
          </p:nvPr>
        </p:nvSpPr>
        <p:spPr>
          <a:xfrm>
            <a:off x="400051" y="411163"/>
            <a:ext cx="11360149" cy="647700"/>
          </a:xfrm>
        </p:spPr>
        <p:txBody>
          <a:bodyPr/>
          <a:lstStyle/>
          <a:p>
            <a:pPr fontAlgn="base"/>
            <a:r>
              <a:rPr lang="zh-CN" altLang="en-US" strike="noStrike" noProof="1"/>
              <a:t>单击此处编辑母版标题样式</a:t>
            </a:r>
            <a:endParaRPr lang="zh-CN" altLang="en-US" strike="noStrike" noProof="1"/>
          </a:p>
        </p:txBody>
      </p:sp>
      <p:sp>
        <p:nvSpPr>
          <p:cNvPr id="3" name="剪贴画占位符 2"/>
          <p:cNvSpPr>
            <a:spLocks noGrp="1"/>
          </p:cNvSpPr>
          <p:nvPr>
            <p:ph type="clipArt" sz="half" idx="1"/>
          </p:nvPr>
        </p:nvSpPr>
        <p:spPr>
          <a:xfrm>
            <a:off x="393700" y="1489075"/>
            <a:ext cx="5581651" cy="4313238"/>
          </a:xfrm>
        </p:spPr>
        <p:txBody>
          <a:bodyPr vert="horz" wrap="square" lIns="0" tIns="0" rIns="0" bIns="0" numCol="1" anchor="t" anchorCtr="0" compatLnSpc="1"/>
          <a:lstStyle/>
          <a:p>
            <a:pPr marL="180975" marR="0" lvl="0" indent="-180975" algn="l" defTabSz="0" rtl="0" eaLnBrk="0" fontAlgn="base" latinLnBrk="0" hangingPunct="0">
              <a:lnSpc>
                <a:spcPct val="100000"/>
              </a:lnSpc>
              <a:spcBef>
                <a:spcPct val="20000"/>
              </a:spcBef>
              <a:spcAft>
                <a:spcPct val="0"/>
              </a:spcAft>
              <a:buClrTx/>
              <a:buSzTx/>
              <a:buFont typeface="Wingdings" panose="05000000000000000000" pitchFamily="2" charset="2"/>
              <a:buChar char="§"/>
              <a:defRPr/>
            </a:pPr>
            <a:endParaRPr kumimoji="0" lang="zh-CN" altLang="en-US" sz="3200" b="1" i="0" u="none" strike="noStrike" kern="0" cap="none" spc="0" normalizeH="0" baseline="0" noProof="0">
              <a:ln>
                <a:noFill/>
              </a:ln>
              <a:solidFill>
                <a:schemeClr val="tx1"/>
              </a:solidFill>
              <a:effectLst/>
              <a:uLnTx/>
              <a:uFillTx/>
              <a:latin typeface="+mn-lt"/>
              <a:ea typeface="+mn-ea"/>
              <a:cs typeface="+mn-cs"/>
              <a:sym typeface="Arial" panose="020B0604020202020204" pitchFamily="34" charset="0"/>
            </a:endParaRPr>
          </a:p>
        </p:txBody>
      </p:sp>
      <p:sp>
        <p:nvSpPr>
          <p:cNvPr id="4" name="文本占位符 3"/>
          <p:cNvSpPr>
            <a:spLocks noGrp="1"/>
          </p:cNvSpPr>
          <p:nvPr>
            <p:ph type="body" sz="half" idx="2"/>
          </p:nvPr>
        </p:nvSpPr>
        <p:spPr>
          <a:xfrm>
            <a:off x="6178551" y="1489075"/>
            <a:ext cx="5581649" cy="431323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页脚占位符 4"/>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0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Tree>
  </p:cSld>
  <p:clrMapOvr>
    <a:masterClrMapping/>
  </p:clrMapOvr>
  <p:transition advClick="0" advTm="4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cSld name="标题，文本与剪贴画">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4417" y="404813"/>
            <a:ext cx="10972800" cy="847725"/>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3072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剪贴画占位符 3"/>
          <p:cNvSpPr>
            <a:spLocks noGrp="1"/>
          </p:cNvSpPr>
          <p:nvPr>
            <p:ph type="clipArt" sz="half" idx="2"/>
          </p:nvPr>
        </p:nvSpPr>
        <p:spPr>
          <a:xfrm>
            <a:off x="6197600" y="1600200"/>
            <a:ext cx="5384800" cy="4530725"/>
          </a:xfrm>
        </p:spPr>
        <p:txBody>
          <a:bodyPr vert="horz" wrap="square" lIns="91440" tIns="45720" rIns="91440" bIns="45720" numCol="1" anchor="t" anchorCtr="0" compatLnSpc="1"/>
          <a:lstStyle/>
          <a:p>
            <a:pPr marL="171450" marR="0" lvl="0" indent="-171450" algn="l" defTabSz="914400" rtl="0" eaLnBrk="1" fontAlgn="base" latinLnBrk="0" hangingPunct="1">
              <a:lnSpc>
                <a:spcPct val="90000"/>
              </a:lnSpc>
              <a:spcBef>
                <a:spcPts val="750"/>
              </a:spcBef>
              <a:spcAft>
                <a:spcPct val="0"/>
              </a:spcAft>
              <a:buClrTx/>
              <a:buSzTx/>
              <a:buFont typeface="Arial" panose="020B0604020202020204" pitchFamily="34" charset="0"/>
              <a:buChar char="•"/>
              <a:defRPr/>
            </a:pPr>
            <a:endParaRPr kumimoji="0" lang="zh-CN" alt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9" name="日期占位符 4"/>
          <p:cNvSpPr>
            <a:spLocks noGrp="1"/>
          </p:cNvSpPr>
          <p:nvPr>
            <p:ph type="dt" sz="half" idx="12"/>
          </p:nvPr>
        </p:nvSpPr>
        <p:spPr>
          <a:xfrm>
            <a:off x="609600" y="6243638"/>
            <a:ext cx="2844800" cy="457200"/>
          </a:xfrm>
          <a:prstGeom prst="rect">
            <a:avLst/>
          </a:prstGeom>
        </p:spPr>
        <p:txBody>
          <a:bodyPr vert="horz" lIns="91440" tIns="45720" rIns="91440" bIns="45720" rtlCol="0" anchor="ctr">
            <a:normAutofit/>
          </a:bodyPr>
          <a:lstStyle>
            <a:lvl1pPr>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zh-CN" sz="1200" b="0" i="0" u="none" strike="noStrike" kern="1200" cap="none" spc="0" normalizeH="0" baseline="0" noProof="1">
              <a:ln>
                <a:noFill/>
              </a:ln>
              <a:solidFill>
                <a:schemeClr val="bg1"/>
              </a:solidFill>
              <a:effectLst/>
              <a:uLnTx/>
              <a:uFillTx/>
              <a:latin typeface="+mn-lt"/>
              <a:ea typeface="+mn-ea"/>
              <a:cs typeface="+mn-cs"/>
            </a:endParaRPr>
          </a:p>
        </p:txBody>
      </p:sp>
      <p:sp>
        <p:nvSpPr>
          <p:cNvPr id="10" name="页脚占位符 5"/>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defRPr/>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zh-CN" sz="1200" b="0" i="0" u="none" strike="noStrike" kern="1200" cap="none" spc="0" normalizeH="0" baseline="0" noProof="1">
              <a:ln>
                <a:noFill/>
              </a:ln>
              <a:solidFill>
                <a:schemeClr val="bg1"/>
              </a:solidFill>
              <a:effectLst/>
              <a:uLnTx/>
              <a:uFillTx/>
              <a:latin typeface="+mn-lt"/>
              <a:ea typeface="+mn-ea"/>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wrap="square" lIns="91440" tIns="45720" rIns="91440" bIns="45720" numCol="1" anchor="ctr" anchorCtr="0" compatLnSpc="1"/>
          <a:lstStyle/>
          <a:p>
            <a:pPr algn="r" fontAlgn="base"/>
            <a:fld id="{9A0DB2DC-4C9A-4742-B13C-FB6460FD3503}" type="slidenum">
              <a:rPr lang="en-US" altLang="zh-CN" strike="noStrike" noProof="1" dirty="0">
                <a:latin typeface="Arial" panose="020B0604020202020204" pitchFamily="34" charset="0"/>
                <a:ea typeface="黑体" panose="02010609060101010101" charset="-122"/>
                <a:cs typeface="+mn-cs"/>
              </a:rPr>
            </a:fld>
            <a:endParaRPr lang="en-US" altLang="zh-CN" strike="noStrike" noProof="1">
              <a:ea typeface="黑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39090"/>
            <a:ext cx="10515600" cy="96901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714375" y="1444625"/>
            <a:ext cx="10810875" cy="435165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grpSp>
        <p:nvGrpSpPr>
          <p:cNvPr id="12294" name="组合 14"/>
          <p:cNvGrpSpPr/>
          <p:nvPr userDrawn="1"/>
        </p:nvGrpSpPr>
        <p:grpSpPr bwMode="auto">
          <a:xfrm>
            <a:off x="28575" y="-28575"/>
            <a:ext cx="12184380" cy="368300"/>
            <a:chOff x="-24680" y="6143797"/>
            <a:chExt cx="12232767" cy="367195"/>
          </a:xfrm>
        </p:grpSpPr>
        <p:grpSp>
          <p:nvGrpSpPr>
            <p:cNvPr id="7" name="组合 16"/>
            <p:cNvGrpSpPr/>
            <p:nvPr/>
          </p:nvGrpSpPr>
          <p:grpSpPr>
            <a:xfrm>
              <a:off x="3076687" y="6164671"/>
              <a:ext cx="9131400" cy="302931"/>
              <a:chOff x="2187085" y="356211"/>
              <a:chExt cx="6826066" cy="459365"/>
            </a:xfrm>
            <a:solidFill>
              <a:srgbClr val="BD2417"/>
            </a:solidFill>
          </p:grpSpPr>
          <p:sp>
            <p:nvSpPr>
              <p:cNvPr id="22" name="矩形 21"/>
              <p:cNvSpPr/>
              <p:nvPr/>
            </p:nvSpPr>
            <p:spPr>
              <a:xfrm>
                <a:off x="2895129" y="356211"/>
                <a:ext cx="6118022" cy="4585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b="1" dirty="0">
                  <a:solidFill>
                    <a:schemeClr val="bg2"/>
                  </a:solidFill>
                  <a:latin typeface="微软雅黑" panose="020B0503020204020204" charset="-122"/>
                  <a:ea typeface="微软雅黑" panose="020B0503020204020204" charset="-122"/>
                  <a:sym typeface="+mn-ea"/>
                </a:endParaRPr>
              </a:p>
              <a:p>
                <a:pPr algn="ctr" fontAlgn="auto">
                  <a:spcBef>
                    <a:spcPts val="0"/>
                  </a:spcBef>
                  <a:spcAft>
                    <a:spcPts val="0"/>
                  </a:spcAft>
                  <a:defRPr/>
                </a:pPr>
                <a:endParaRPr lang="zh-CN" altLang="en-US" b="1" dirty="0">
                  <a:solidFill>
                    <a:schemeClr val="bg2"/>
                  </a:solidFill>
                  <a:latin typeface="微软雅黑" panose="020B0503020204020204" charset="-122"/>
                  <a:ea typeface="微软雅黑" panose="020B0503020204020204" charset="-122"/>
                  <a:sym typeface="+mn-ea"/>
                </a:endParaRPr>
              </a:p>
            </p:txBody>
          </p:sp>
          <p:sp>
            <p:nvSpPr>
              <p:cNvPr id="23" name="任意多边形 22"/>
              <p:cNvSpPr/>
              <p:nvPr/>
            </p:nvSpPr>
            <p:spPr>
              <a:xfrm flipH="1">
                <a:off x="2187085" y="357171"/>
                <a:ext cx="918534" cy="45840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000" y="0"/>
                    </a:lnTo>
                    <a:lnTo>
                      <a:pt x="10000" y="0"/>
                    </a:lnTo>
                    <a:lnTo>
                      <a:pt x="8000" y="10000"/>
                    </a:lnTo>
                    <a:lnTo>
                      <a:pt x="0" y="1000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2296" name="组合 17"/>
            <p:cNvGrpSpPr/>
            <p:nvPr/>
          </p:nvGrpSpPr>
          <p:grpSpPr bwMode="auto">
            <a:xfrm>
              <a:off x="-24680" y="6165305"/>
              <a:ext cx="3106762" cy="302297"/>
              <a:chOff x="-1" y="357172"/>
              <a:chExt cx="2217757" cy="458456"/>
            </a:xfrm>
          </p:grpSpPr>
          <p:sp>
            <p:nvSpPr>
              <p:cNvPr id="20" name="任意多边形 19"/>
              <p:cNvSpPr/>
              <p:nvPr/>
            </p:nvSpPr>
            <p:spPr>
              <a:xfrm flipH="1">
                <a:off x="1319006" y="358158"/>
                <a:ext cx="898979" cy="45846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000" y="0"/>
                    </a:lnTo>
                    <a:lnTo>
                      <a:pt x="10000" y="0"/>
                    </a:lnTo>
                    <a:lnTo>
                      <a:pt x="8000" y="10000"/>
                    </a:lnTo>
                    <a:lnTo>
                      <a:pt x="0" y="10000"/>
                    </a:lnTo>
                    <a:close/>
                  </a:path>
                </a:pathLst>
              </a:custGeom>
              <a:solidFill>
                <a:srgbClr val="9A9A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a:xfrm>
                <a:off x="-1" y="358158"/>
                <a:ext cx="1991353" cy="458465"/>
              </a:xfrm>
              <a:prstGeom prst="rect">
                <a:avLst/>
              </a:prstGeom>
              <a:solidFill>
                <a:srgbClr val="9A9A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2297" name="文本框 18"/>
            <p:cNvSpPr txBox="1">
              <a:spLocks noChangeArrowheads="1"/>
            </p:cNvSpPr>
            <p:nvPr/>
          </p:nvSpPr>
          <p:spPr bwMode="auto">
            <a:xfrm>
              <a:off x="9184517" y="6143797"/>
              <a:ext cx="2980091" cy="367195"/>
            </a:xfrm>
            <a:prstGeom prst="rect">
              <a:avLst/>
            </a:prstGeom>
            <a:noFill/>
            <a:ln w="9525">
              <a:noFill/>
              <a:miter lim="800000"/>
            </a:ln>
          </p:spPr>
          <p:txBody>
            <a:bodyPr wrap="square">
              <a:spAutoFit/>
            </a:bodyPr>
            <a:lstStyle/>
            <a:p>
              <a:endParaRPr lang="zh-CN" altLang="en-US">
                <a:solidFill>
                  <a:schemeClr val="bg1"/>
                </a:solidFill>
                <a:latin typeface="华文新魏" panose="02010800040101010101" pitchFamily="2" charset="-122"/>
                <a:ea typeface="华文新魏" panose="0201080004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jpeg"/><Relationship Id="rId3" Type="http://schemas.openxmlformats.org/officeDocument/2006/relationships/image" Target="../media/image7.png"/><Relationship Id="rId2" Type="http://schemas.openxmlformats.org/officeDocument/2006/relationships/tags" Target="../tags/tag3.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1.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2.jpeg"/><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784225"/>
            <a:ext cx="9144000" cy="725170"/>
          </a:xfrm>
          <a:ln>
            <a:noFill/>
          </a:ln>
        </p:spPr>
        <p:txBody>
          <a:bodyPr>
            <a:scene3d>
              <a:camera prst="orthographicFront"/>
              <a:lightRig rig="threePt" dir="t"/>
            </a:scene3d>
          </a:bodyPr>
          <a:lstStyle/>
          <a:p>
            <a:r>
              <a:rPr lang="zh-CN" altLang="zh-CN" sz="3600">
                <a:gradFill>
                  <a:gsLst>
                    <a:gs pos="0">
                      <a:srgbClr val="E30000"/>
                    </a:gs>
                    <a:gs pos="100000">
                      <a:srgbClr val="760303"/>
                    </a:gs>
                  </a:gsLst>
                  <a:lin ang="5400000" scaled="0"/>
                </a:gradFill>
                <a:effectLst>
                  <a:outerShdw blurRad="38100" dist="25400" dir="5400000" algn="ctr" rotWithShape="0">
                    <a:srgbClr val="6E747A">
                      <a:alpha val="43000"/>
                    </a:srgbClr>
                  </a:outerShdw>
                </a:effectLst>
                <a:latin typeface="黑体" panose="02010609060101010101" charset="-122"/>
                <a:ea typeface="黑体" panose="02010609060101010101" charset="-122"/>
              </a:rPr>
              <a:t>《思想道德与法治》</a:t>
            </a:r>
            <a:endParaRPr lang="zh-CN" altLang="zh-CN" sz="3600">
              <a:gradFill>
                <a:gsLst>
                  <a:gs pos="0">
                    <a:srgbClr val="E30000"/>
                  </a:gs>
                  <a:gs pos="100000">
                    <a:srgbClr val="760303"/>
                  </a:gs>
                </a:gsLst>
                <a:lin ang="5400000" scaled="0"/>
              </a:gra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p:txBody>
      </p:sp>
      <p:sp>
        <p:nvSpPr>
          <p:cNvPr id="3" name="副标题 2"/>
          <p:cNvSpPr>
            <a:spLocks noGrp="1"/>
          </p:cNvSpPr>
          <p:nvPr>
            <p:ph type="subTitle" idx="1"/>
          </p:nvPr>
        </p:nvSpPr>
        <p:spPr>
          <a:xfrm>
            <a:off x="1434465" y="2080260"/>
            <a:ext cx="9144000" cy="989330"/>
          </a:xfrm>
        </p:spPr>
        <p:txBody>
          <a:bodyPr>
            <a:normAutofit/>
          </a:bodyPr>
          <a:lstStyle/>
          <a:p>
            <a:r>
              <a:rPr lang="zh-CN" altLang="zh-CN" sz="5400" b="1">
                <a:ln w="28575" cmpd="sng">
                  <a:noFill/>
                  <a:prstDash val="sysDot"/>
                </a:ln>
                <a:solidFill>
                  <a:srgbClr val="C00000"/>
                </a:solidFill>
                <a:effectLst>
                  <a:outerShdw blurRad="12700" dist="38100" dir="2700000" algn="tl" rotWithShape="0">
                    <a:schemeClr val="accent5">
                      <a:lumMod val="60000"/>
                      <a:lumOff val="40000"/>
                    </a:schemeClr>
                  </a:outerShdw>
                </a:effectLst>
                <a:latin typeface="黑体" panose="02010609060101010101" charset="-122"/>
                <a:ea typeface="黑体" panose="02010609060101010101" charset="-122"/>
              </a:rPr>
              <a:t>期末复习辅导</a:t>
            </a:r>
            <a:endParaRPr lang="zh-CN" altLang="zh-CN" sz="5400" b="1">
              <a:ln w="28575" cmpd="sng">
                <a:noFill/>
                <a:prstDash val="sysDot"/>
              </a:ln>
              <a:solidFill>
                <a:srgbClr val="C00000"/>
              </a:solidFill>
              <a:effectLst>
                <a:outerShdw blurRad="12700" dist="38100" dir="2700000" algn="tl" rotWithShape="0">
                  <a:schemeClr val="accent5">
                    <a:lumMod val="60000"/>
                    <a:lumOff val="40000"/>
                  </a:schemeClr>
                </a:outerShdw>
              </a:effectLst>
              <a:latin typeface="黑体" panose="02010609060101010101" charset="-122"/>
              <a:ea typeface="黑体" panose="02010609060101010101" charset="-122"/>
            </a:endParaRPr>
          </a:p>
        </p:txBody>
      </p:sp>
      <p:pic>
        <p:nvPicPr>
          <p:cNvPr id="9" name="图片 8" descr="SCU"/>
          <p:cNvPicPr>
            <a:picLocks noChangeAspect="1"/>
          </p:cNvPicPr>
          <p:nvPr/>
        </p:nvPicPr>
        <p:blipFill>
          <a:blip r:embed="rId1"/>
          <a:stretch>
            <a:fillRect/>
          </a:stretch>
        </p:blipFill>
        <p:spPr>
          <a:xfrm>
            <a:off x="71755" y="285750"/>
            <a:ext cx="933450" cy="797560"/>
          </a:xfrm>
          <a:prstGeom prst="rect">
            <a:avLst/>
          </a:prstGeom>
        </p:spPr>
      </p:pic>
      <p:pic>
        <p:nvPicPr>
          <p:cNvPr id="12" name="图片 11"/>
          <p:cNvPicPr>
            <a:picLocks noChangeAspect="1"/>
          </p:cNvPicPr>
          <p:nvPr userDrawn="1"/>
        </p:nvPicPr>
        <p:blipFill rotWithShape="1">
          <a:blip r:embed="rId2" cstate="print">
            <a:extLst>
              <a:ext uri="{28A0092B-C50C-407E-A947-70E740481C1C}">
                <a14:useLocalDpi xmlns:a14="http://schemas.microsoft.com/office/drawing/2010/main" val="0"/>
              </a:ext>
            </a:extLst>
          </a:blip>
          <a:srcRect l="4229" b="25486"/>
          <a:stretch>
            <a:fillRect/>
          </a:stretch>
        </p:blipFill>
        <p:spPr>
          <a:xfrm>
            <a:off x="-173990" y="4512310"/>
            <a:ext cx="12361545" cy="2345690"/>
          </a:xfrm>
          <a:prstGeom prst="rect">
            <a:avLst/>
          </a:prstGeom>
          <a:effectLst>
            <a:softEdge rad="63500"/>
          </a:effectLst>
        </p:spPr>
      </p:pic>
      <p:sp>
        <p:nvSpPr>
          <p:cNvPr id="10" name="文本框 9"/>
          <p:cNvSpPr txBox="1"/>
          <p:nvPr/>
        </p:nvSpPr>
        <p:spPr>
          <a:xfrm>
            <a:off x="9952355" y="-3175"/>
            <a:ext cx="2235200" cy="368300"/>
          </a:xfrm>
          <a:prstGeom prst="rect">
            <a:avLst/>
          </a:prstGeom>
          <a:noFill/>
        </p:spPr>
        <p:txBody>
          <a:bodyPr wrap="none" rtlCol="0" anchor="t">
            <a:spAutoFit/>
            <a:scene3d>
              <a:camera prst="orthographicFront"/>
              <a:lightRig rig="threePt" dir="t"/>
            </a:scene3d>
          </a:bodyPr>
          <a:lstStyle/>
          <a:p>
            <a:r>
              <a:rPr lang="zh-CN" altLang="en-US">
                <a:solidFill>
                  <a:schemeClr val="bg1">
                    <a:lumMod val="95000"/>
                  </a:schemeClr>
                </a:solidFill>
                <a:effectLst>
                  <a:outerShdw blurRad="38100" dist="19050" dir="2700000" algn="tl" rotWithShape="0">
                    <a:schemeClr val="dk1">
                      <a:alpha val="40000"/>
                    </a:schemeClr>
                  </a:outerShdw>
                </a:effectLst>
                <a:latin typeface="华文新魏" panose="02010800040101010101" pitchFamily="2" charset="-122"/>
                <a:ea typeface="华文新魏" panose="02010800040101010101" pitchFamily="2" charset="-122"/>
                <a:sym typeface="+mn-ea"/>
              </a:rPr>
              <a:t>海纳百川    有容乃大</a:t>
            </a:r>
            <a:endParaRPr lang="zh-CN" altLang="en-US">
              <a:solidFill>
                <a:schemeClr val="bg1">
                  <a:lumMod val="95000"/>
                </a:schemeClr>
              </a:solidFill>
              <a:effectLst>
                <a:outerShdw blurRad="38100" dist="19050" dir="2700000" algn="tl" rotWithShape="0">
                  <a:schemeClr val="dk1">
                    <a:alpha val="40000"/>
                  </a:schemeClr>
                </a:outerShdw>
              </a:effectLst>
              <a:latin typeface="华文新魏" panose="02010800040101010101" pitchFamily="2" charset="-122"/>
              <a:ea typeface="华文新魏" panose="02010800040101010101" pitchFamily="2" charset="-122"/>
              <a:sym typeface="+mn-ea"/>
            </a:endParaRPr>
          </a:p>
        </p:txBody>
      </p:sp>
      <p:sp>
        <p:nvSpPr>
          <p:cNvPr id="4" name="文本框 3"/>
          <p:cNvSpPr txBox="1"/>
          <p:nvPr/>
        </p:nvSpPr>
        <p:spPr>
          <a:xfrm>
            <a:off x="298450" y="4305300"/>
            <a:ext cx="11529695" cy="645160"/>
          </a:xfrm>
          <a:prstGeom prst="rect">
            <a:avLst/>
          </a:prstGeom>
          <a:noFill/>
        </p:spPr>
        <p:txBody>
          <a:bodyPr wrap="square" rtlCol="0">
            <a:spAutoFit/>
          </a:bodyPr>
          <a:lstStyle/>
          <a:p>
            <a:pPr algn="ctr"/>
            <a:r>
              <a:rPr lang="en-US" altLang="zh-CN" sz="3600" dirty="0"/>
              <a:t>2024</a:t>
            </a:r>
            <a:r>
              <a:rPr lang="en-US" altLang="zh-CN" sz="3600" dirty="0">
                <a:latin typeface="Times New Roman" panose="02020603050405020304" charset="0"/>
                <a:cs typeface="Times New Roman" panose="02020603050405020304" charset="0"/>
              </a:rPr>
              <a:t>~</a:t>
            </a:r>
            <a:r>
              <a:rPr lang="en-US" altLang="zh-CN" sz="3600" dirty="0"/>
              <a:t>2025</a:t>
            </a:r>
            <a:r>
              <a:rPr lang="zh-CN" altLang="en-US" sz="3600" dirty="0"/>
              <a:t>学年秋季学期</a:t>
            </a:r>
            <a:endParaRPr lang="zh-CN" altLang="en-US" sz="3600" dirty="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84655" y="1718310"/>
            <a:ext cx="8005445" cy="2520950"/>
          </a:xfrm>
        </p:spPr>
        <p:txBody>
          <a:bodyPr vert="horz" wrap="square" lIns="91440" tIns="45720" rIns="91440" bIns="45720" numCol="1" anchor="b" anchorCtr="0" compatLnSpc="1">
            <a:normAutofit fontScale="90000"/>
          </a:bodyPr>
          <a:lstStyle/>
          <a:p>
            <a:pPr marL="0" marR="0" lvl="0" indent="0" algn="ctr" defTabSz="914400" rtl="0" eaLnBrk="1" fontAlgn="base" latinLnBrk="0" hangingPunct="1">
              <a:lnSpc>
                <a:spcPct val="150000"/>
              </a:lnSpc>
              <a:spcBef>
                <a:spcPct val="0"/>
              </a:spcBef>
              <a:spcAft>
                <a:spcPct val="0"/>
              </a:spcAft>
              <a:buClrTx/>
              <a:buSzTx/>
              <a:buFontTx/>
              <a:buNone/>
              <a:defRPr/>
            </a:pPr>
            <a:br>
              <a:rPr kumimoji="0" lang="en-US" altLang="zh-CN"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br>
            <a:br>
              <a:rPr kumimoji="0" lang="zh-CN" altLang="en-US"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br>
            <a:r>
              <a:rPr kumimoji="0" lang="zh-CN" altLang="en-US"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 一、课程学习总结</a:t>
            </a:r>
            <a:br>
              <a:rPr kumimoji="0" lang="en-US" altLang="zh-CN"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br>
            <a:r>
              <a:rPr kumimoji="0" lang="en-US" altLang="zh-CN"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   </a:t>
            </a:r>
            <a:endParaRPr kumimoji="0" lang="en-US" altLang="zh-CN"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p:txBody>
      </p:sp>
      <p:pic>
        <p:nvPicPr>
          <p:cNvPr id="5" name="图片 4" descr="u=4198014869,597228974&amp;fm=11&amp;gp=0"/>
          <p:cNvPicPr>
            <a:picLocks noChangeAspect="1"/>
          </p:cNvPicPr>
          <p:nvPr/>
        </p:nvPicPr>
        <p:blipFill>
          <a:blip r:embed="rId1"/>
          <a:stretch>
            <a:fillRect/>
          </a:stretch>
        </p:blipFill>
        <p:spPr>
          <a:xfrm>
            <a:off x="4899660" y="4127500"/>
            <a:ext cx="2152015" cy="19399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a:xfrm>
            <a:off x="1917383" y="487680"/>
            <a:ext cx="8229600" cy="847725"/>
          </a:xfrm>
        </p:spPr>
        <p:txBody>
          <a:bodyPr vert="horz" wrap="square" lIns="91440" tIns="45720" rIns="91440" bIns="45720" numCol="1" anchor="ctr" anchorCtr="0" compatLnSpc="1">
            <a:normAutofit/>
          </a:body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j-cs"/>
              </a:rPr>
              <a:t>本课程成绩构成</a:t>
            </a:r>
            <a:endParaRPr kumimoji="0" lang="zh-CN" altLang="en-US" sz="4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j-cs"/>
            </a:endParaRPr>
          </a:p>
        </p:txBody>
      </p:sp>
      <p:sp>
        <p:nvSpPr>
          <p:cNvPr id="10242" name="Rectangle 5"/>
          <p:cNvSpPr>
            <a:spLocks noGrp="1"/>
          </p:cNvSpPr>
          <p:nvPr>
            <p:ph idx="1"/>
          </p:nvPr>
        </p:nvSpPr>
        <p:spPr>
          <a:xfrm>
            <a:off x="1654810" y="2246630"/>
            <a:ext cx="9432290" cy="4285615"/>
          </a:xfrm>
        </p:spPr>
        <p:txBody>
          <a:bodyPr vert="horz" wrap="square" lIns="91440" tIns="45720" rIns="91440" bIns="45720" anchor="t" anchorCtr="0"/>
          <a:lstStyle/>
          <a:p>
            <a:pPr eaLnBrk="1" hangingPunct="1">
              <a:lnSpc>
                <a:spcPct val="150000"/>
              </a:lnSpc>
            </a:pPr>
            <a:r>
              <a:rPr lang="zh-CN" altLang="en-US" sz="3200" b="1" kern="1200" dirty="0">
                <a:latin typeface="微软雅黑" panose="020B0503020204020204" charset="-122"/>
                <a:ea typeface="微软雅黑" panose="020B0503020204020204" charset="-122"/>
                <a:cs typeface="微软雅黑" panose="020B0503020204020204" charset="-122"/>
              </a:rPr>
              <a:t>平时成绩占总成绩的</a:t>
            </a:r>
            <a:r>
              <a:rPr lang="en-US" altLang="zh-CN" sz="3200" b="1" kern="1200" dirty="0">
                <a:latin typeface="微软雅黑" panose="020B0503020204020204" charset="-122"/>
                <a:ea typeface="微软雅黑" panose="020B0503020204020204" charset="-122"/>
                <a:cs typeface="微软雅黑" panose="020B0503020204020204" charset="-122"/>
              </a:rPr>
              <a:t>50%</a:t>
            </a:r>
            <a:endParaRPr lang="en-US" altLang="zh-CN" sz="3200" b="1" kern="1200" dirty="0">
              <a:latin typeface="微软雅黑" panose="020B0503020204020204" charset="-122"/>
              <a:ea typeface="微软雅黑" panose="020B0503020204020204" charset="-122"/>
              <a:cs typeface="微软雅黑" panose="020B0503020204020204" charset="-122"/>
            </a:endParaRPr>
          </a:p>
          <a:p>
            <a:pPr lvl="1" eaLnBrk="1" hangingPunct="1">
              <a:lnSpc>
                <a:spcPct val="150000"/>
              </a:lnSpc>
            </a:pPr>
            <a:r>
              <a:rPr lang="zh-CN" altLang="en-US" sz="2800" b="1" kern="1200" dirty="0">
                <a:latin typeface="+mn-lt"/>
                <a:ea typeface="+mn-ea"/>
                <a:cs typeface="+mn-cs"/>
              </a:rPr>
              <a:t>考勤</a:t>
            </a:r>
            <a:r>
              <a:rPr lang="en-US" altLang="zh-CN" sz="2800" b="1" kern="1200" dirty="0">
                <a:latin typeface="+mn-lt"/>
                <a:ea typeface="+mn-ea"/>
                <a:cs typeface="+mn-cs"/>
              </a:rPr>
              <a:t>10%+</a:t>
            </a:r>
            <a:r>
              <a:rPr lang="zh-CN" altLang="en-US" sz="2800" b="1" kern="1200" dirty="0">
                <a:latin typeface="+mn-lt"/>
                <a:ea typeface="+mn-ea"/>
                <a:cs typeface="+mn-cs"/>
              </a:rPr>
              <a:t>课堂参与</a:t>
            </a:r>
            <a:r>
              <a:rPr lang="en-US" altLang="zh-CN" sz="2800" b="1" kern="1200" dirty="0">
                <a:latin typeface="+mn-lt"/>
                <a:ea typeface="+mn-ea"/>
                <a:cs typeface="+mn-cs"/>
              </a:rPr>
              <a:t>10%+</a:t>
            </a:r>
            <a:r>
              <a:rPr lang="zh-CN" altLang="en-US" sz="2800" b="1" kern="1200" dirty="0">
                <a:latin typeface="+mn-lt"/>
                <a:ea typeface="+mn-ea"/>
                <a:cs typeface="+mn-cs"/>
              </a:rPr>
              <a:t>平时作业</a:t>
            </a:r>
            <a:r>
              <a:rPr lang="en-US" altLang="zh-CN" sz="2800" b="1" kern="1200" dirty="0">
                <a:latin typeface="+mn-lt"/>
                <a:ea typeface="+mn-ea"/>
                <a:cs typeface="+mn-cs"/>
              </a:rPr>
              <a:t>10%+</a:t>
            </a:r>
            <a:r>
              <a:rPr lang="zh-CN" altLang="en-US" sz="2800" b="1" kern="1200" dirty="0">
                <a:latin typeface="+mn-lt"/>
                <a:ea typeface="+mn-ea"/>
                <a:cs typeface="+mn-cs"/>
              </a:rPr>
              <a:t>实践教学</a:t>
            </a:r>
            <a:r>
              <a:rPr lang="en-US" altLang="zh-CN" sz="2800" b="1" kern="1200" dirty="0">
                <a:latin typeface="+mn-lt"/>
                <a:ea typeface="+mn-ea"/>
                <a:cs typeface="+mn-cs"/>
              </a:rPr>
              <a:t>20%</a:t>
            </a:r>
            <a:endParaRPr lang="en-US" altLang="zh-CN" sz="2800" b="1" kern="1200" dirty="0">
              <a:latin typeface="+mn-lt"/>
              <a:ea typeface="+mn-ea"/>
              <a:cs typeface="+mn-cs"/>
            </a:endParaRPr>
          </a:p>
          <a:p>
            <a:pPr eaLnBrk="1" hangingPunct="1">
              <a:lnSpc>
                <a:spcPct val="150000"/>
              </a:lnSpc>
            </a:pPr>
            <a:r>
              <a:rPr lang="zh-CN" altLang="en-US" sz="3200" b="1" kern="1200" dirty="0">
                <a:latin typeface="微软雅黑" panose="020B0503020204020204" charset="-122"/>
                <a:ea typeface="微软雅黑" panose="020B0503020204020204" charset="-122"/>
                <a:cs typeface="微软雅黑" panose="020B0503020204020204" charset="-122"/>
              </a:rPr>
              <a:t>期末考试卷面分为</a:t>
            </a:r>
            <a:r>
              <a:rPr lang="en-US" altLang="zh-CN" sz="3200" b="1" kern="1200" dirty="0">
                <a:latin typeface="微软雅黑" panose="020B0503020204020204" charset="-122"/>
                <a:ea typeface="微软雅黑" panose="020B0503020204020204" charset="-122"/>
                <a:cs typeface="微软雅黑" panose="020B0503020204020204" charset="-122"/>
              </a:rPr>
              <a:t>100</a:t>
            </a:r>
            <a:r>
              <a:rPr lang="zh-CN" altLang="en-US" sz="3200" b="1" kern="1200" dirty="0">
                <a:latin typeface="微软雅黑" panose="020B0503020204020204" charset="-122"/>
                <a:ea typeface="微软雅黑" panose="020B0503020204020204" charset="-122"/>
                <a:cs typeface="微软雅黑" panose="020B0503020204020204" charset="-122"/>
              </a:rPr>
              <a:t>分，占总成绩的</a:t>
            </a:r>
            <a:r>
              <a:rPr lang="en-US" altLang="zh-CN" sz="3200" b="1" kern="1200" dirty="0">
                <a:latin typeface="微软雅黑" panose="020B0503020204020204" charset="-122"/>
                <a:ea typeface="微软雅黑" panose="020B0503020204020204" charset="-122"/>
                <a:cs typeface="微软雅黑" panose="020B0503020204020204" charset="-122"/>
              </a:rPr>
              <a:t>50%</a:t>
            </a:r>
            <a:endParaRPr lang="en-US" altLang="zh-CN" sz="3200" b="1" kern="1200" dirty="0">
              <a:latin typeface="微软雅黑" panose="020B0503020204020204" charset="-122"/>
              <a:ea typeface="微软雅黑" panose="020B0503020204020204" charset="-122"/>
              <a:cs typeface="微软雅黑" panose="020B0503020204020204" charset="-122"/>
            </a:endParaRPr>
          </a:p>
        </p:txBody>
      </p:sp>
      <p:pic>
        <p:nvPicPr>
          <p:cNvPr id="4" name="图片 3" descr="CJ3036"/>
          <p:cNvPicPr>
            <a:picLocks noChangeAspect="1"/>
          </p:cNvPicPr>
          <p:nvPr/>
        </p:nvPicPr>
        <p:blipFill>
          <a:blip r:embed="rId1"/>
          <a:stretch>
            <a:fillRect/>
          </a:stretch>
        </p:blipFill>
        <p:spPr>
          <a:xfrm>
            <a:off x="1833245" y="462280"/>
            <a:ext cx="1217930" cy="8978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365125"/>
            <a:ext cx="7886700" cy="976313"/>
          </a:xfrm>
        </p:spPr>
        <p:txBody>
          <a:bodyPr vert="horz" wrap="square" lIns="91440" tIns="45720" rIns="91440" bIns="45720" numCol="1" anchor="ctr" anchorCtr="0" compatLnSpc="1">
            <a:noAutofit/>
          </a:body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隶书" panose="02010509060101010101" pitchFamily="49" charset="-122"/>
              </a:rPr>
              <a:t>考试题型及分值</a:t>
            </a:r>
            <a:endParaRPr kumimoji="0" lang="zh-CN" altLang="en-U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隶书" panose="02010509060101010101" pitchFamily="49" charset="-122"/>
            </a:endParaRPr>
          </a:p>
        </p:txBody>
      </p:sp>
      <p:sp>
        <p:nvSpPr>
          <p:cNvPr id="11266" name="内容占位符 2"/>
          <p:cNvSpPr>
            <a:spLocks noGrp="1"/>
          </p:cNvSpPr>
          <p:nvPr>
            <p:ph idx="1"/>
          </p:nvPr>
        </p:nvSpPr>
        <p:spPr>
          <a:xfrm>
            <a:off x="1095375" y="1576070"/>
            <a:ext cx="10321925" cy="4763770"/>
          </a:xfrm>
        </p:spPr>
        <p:txBody>
          <a:bodyPr vert="horz" wrap="square" lIns="91440" tIns="45720" rIns="91440" bIns="45720" anchor="t" anchorCtr="0"/>
          <a:lstStyle/>
          <a:p>
            <a:pPr eaLnBrk="1" hangingPunct="1">
              <a:lnSpc>
                <a:spcPts val="4200"/>
              </a:lnSpc>
              <a:buFont typeface="Wingdings" panose="05000000000000000000" pitchFamily="2" charset="2"/>
              <a:buNone/>
            </a:pPr>
            <a:r>
              <a:rPr lang="zh-CN" altLang="en-US" sz="3200" b="1" kern="1200" dirty="0">
                <a:latin typeface="黑体" panose="02010609060101010101" charset="-122"/>
                <a:ea typeface="黑体" panose="02010609060101010101" charset="-122"/>
                <a:cs typeface="+mn-cs"/>
              </a:rPr>
              <a:t>一、单项选择题</a:t>
            </a:r>
            <a:r>
              <a:rPr lang="zh-CN" altLang="en-US" sz="3200" b="1" kern="1200" dirty="0">
                <a:latin typeface="楷体_GB2312" pitchFamily="49" charset="-122"/>
                <a:ea typeface="+mn-ea"/>
                <a:cs typeface="+mn-cs"/>
              </a:rPr>
              <a:t>      </a:t>
            </a:r>
            <a:r>
              <a:rPr lang="en-US" altLang="zh-CN" sz="3200" b="1" kern="1200" dirty="0">
                <a:latin typeface="楷体_GB2312" pitchFamily="49" charset="-122"/>
                <a:ea typeface="+mn-ea"/>
                <a:cs typeface="+mn-cs"/>
              </a:rPr>
              <a:t>1</a:t>
            </a:r>
            <a:r>
              <a:rPr lang="zh-CN" altLang="en-US" sz="3200" b="1" kern="1200" dirty="0">
                <a:latin typeface="楷体_GB2312" pitchFamily="49" charset="-122"/>
                <a:ea typeface="+mn-ea"/>
                <a:cs typeface="+mn-cs"/>
              </a:rPr>
              <a:t>分</a:t>
            </a:r>
            <a:r>
              <a:rPr lang="en-US" altLang="zh-CN" sz="3200" b="1" kern="1200" dirty="0">
                <a:latin typeface="楷体_GB2312" pitchFamily="49" charset="-122"/>
                <a:ea typeface="+mn-ea"/>
                <a:cs typeface="+mn-cs"/>
              </a:rPr>
              <a:t>×20</a:t>
            </a:r>
            <a:r>
              <a:rPr lang="zh-CN" altLang="en-US" sz="3200" b="1" kern="1200" dirty="0">
                <a:latin typeface="楷体_GB2312" pitchFamily="49" charset="-122"/>
                <a:ea typeface="+mn-ea"/>
                <a:cs typeface="+mn-cs"/>
              </a:rPr>
              <a:t>个小题＝</a:t>
            </a:r>
            <a:r>
              <a:rPr lang="en-US" altLang="zh-CN" sz="3200" b="1" kern="1200" dirty="0">
                <a:latin typeface="楷体_GB2312" pitchFamily="49" charset="-122"/>
                <a:ea typeface="+mn-ea"/>
                <a:cs typeface="+mn-cs"/>
              </a:rPr>
              <a:t>20</a:t>
            </a:r>
            <a:r>
              <a:rPr lang="zh-CN" altLang="en-US" sz="3200" b="1" kern="1200" dirty="0">
                <a:latin typeface="楷体_GB2312" pitchFamily="49" charset="-122"/>
                <a:ea typeface="+mn-ea"/>
                <a:cs typeface="+mn-cs"/>
              </a:rPr>
              <a:t>分</a:t>
            </a:r>
            <a:endParaRPr lang="zh-CN" altLang="en-US" sz="3200" b="1" kern="1200" dirty="0">
              <a:latin typeface="楷体_GB2312" pitchFamily="49" charset="-122"/>
              <a:ea typeface="+mn-ea"/>
              <a:cs typeface="+mn-cs"/>
            </a:endParaRPr>
          </a:p>
          <a:p>
            <a:pPr eaLnBrk="1" hangingPunct="1">
              <a:lnSpc>
                <a:spcPts val="4200"/>
              </a:lnSpc>
              <a:buFont typeface="Wingdings" panose="05000000000000000000" pitchFamily="2" charset="2"/>
              <a:buNone/>
            </a:pPr>
            <a:r>
              <a:rPr lang="zh-CN" altLang="en-US" sz="3200" b="1" kern="1200" dirty="0">
                <a:latin typeface="黑体" panose="02010609060101010101" charset="-122"/>
                <a:ea typeface="黑体" panose="02010609060101010101" charset="-122"/>
                <a:cs typeface="+mn-cs"/>
              </a:rPr>
              <a:t>二、多项选择题</a:t>
            </a:r>
            <a:r>
              <a:rPr lang="zh-CN" altLang="en-US" sz="3200" b="1" kern="1200" dirty="0">
                <a:latin typeface="楷体_GB2312" pitchFamily="49" charset="-122"/>
                <a:ea typeface="+mn-ea"/>
                <a:cs typeface="+mn-cs"/>
              </a:rPr>
              <a:t>      </a:t>
            </a:r>
            <a:r>
              <a:rPr lang="en-US" altLang="zh-CN" sz="3200" b="1" kern="1200" dirty="0">
                <a:latin typeface="楷体_GB2312" pitchFamily="49" charset="-122"/>
                <a:ea typeface="+mn-ea"/>
                <a:cs typeface="+mn-cs"/>
              </a:rPr>
              <a:t>2</a:t>
            </a:r>
            <a:r>
              <a:rPr lang="zh-CN" altLang="en-US" sz="3200" b="1" kern="1200" dirty="0">
                <a:latin typeface="楷体_GB2312" pitchFamily="49" charset="-122"/>
                <a:ea typeface="+mn-ea"/>
                <a:cs typeface="+mn-cs"/>
              </a:rPr>
              <a:t>分</a:t>
            </a:r>
            <a:r>
              <a:rPr lang="en-US" altLang="zh-CN" sz="3200" b="1" kern="1200" dirty="0">
                <a:latin typeface="楷体_GB2312" pitchFamily="49" charset="-122"/>
                <a:ea typeface="+mn-ea"/>
                <a:cs typeface="+mn-cs"/>
              </a:rPr>
              <a:t>×5</a:t>
            </a:r>
            <a:r>
              <a:rPr lang="zh-CN" altLang="en-US" sz="3200" b="1" kern="1200" dirty="0">
                <a:latin typeface="楷体_GB2312" pitchFamily="49" charset="-122"/>
                <a:ea typeface="+mn-ea"/>
                <a:cs typeface="+mn-cs"/>
              </a:rPr>
              <a:t>个小题＝</a:t>
            </a:r>
            <a:r>
              <a:rPr lang="en-US" altLang="zh-CN" sz="3200" b="1" kern="1200" dirty="0">
                <a:latin typeface="楷体_GB2312" pitchFamily="49" charset="-122"/>
                <a:ea typeface="+mn-ea"/>
                <a:cs typeface="+mn-cs"/>
              </a:rPr>
              <a:t>10</a:t>
            </a:r>
            <a:r>
              <a:rPr lang="zh-CN" altLang="en-US" sz="3200" b="1" kern="1200" dirty="0">
                <a:latin typeface="楷体_GB2312" pitchFamily="49" charset="-122"/>
                <a:ea typeface="+mn-ea"/>
                <a:cs typeface="+mn-cs"/>
              </a:rPr>
              <a:t>分</a:t>
            </a:r>
            <a:endParaRPr lang="zh-CN" altLang="en-US" sz="3200" b="1" kern="1200" dirty="0">
              <a:latin typeface="楷体_GB2312" pitchFamily="49" charset="-122"/>
              <a:ea typeface="+mn-ea"/>
              <a:cs typeface="+mn-cs"/>
            </a:endParaRPr>
          </a:p>
          <a:p>
            <a:pPr eaLnBrk="1" hangingPunct="1">
              <a:lnSpc>
                <a:spcPts val="4200"/>
              </a:lnSpc>
              <a:buFont typeface="Wingdings" panose="05000000000000000000" pitchFamily="2" charset="2"/>
              <a:buNone/>
            </a:pPr>
            <a:r>
              <a:rPr lang="zh-CN" altLang="en-US" sz="3200" b="1" kern="1200" dirty="0">
                <a:latin typeface="黑体" panose="02010609060101010101" charset="-122"/>
                <a:ea typeface="黑体" panose="02010609060101010101" charset="-122"/>
                <a:cs typeface="+mn-cs"/>
              </a:rPr>
              <a:t>三、判断题</a:t>
            </a:r>
            <a:r>
              <a:rPr lang="zh-CN" altLang="en-US" sz="3200" b="1" kern="1200" dirty="0">
                <a:latin typeface="楷体_GB2312" pitchFamily="49" charset="-122"/>
                <a:ea typeface="+mn-ea"/>
                <a:cs typeface="+mn-cs"/>
              </a:rPr>
              <a:t>          </a:t>
            </a:r>
            <a:r>
              <a:rPr lang="en-US" altLang="zh-CN" sz="3200" b="1" kern="1200" dirty="0">
                <a:latin typeface="楷体_GB2312" pitchFamily="49" charset="-122"/>
                <a:ea typeface="+mn-ea"/>
                <a:cs typeface="+mn-cs"/>
              </a:rPr>
              <a:t>2</a:t>
            </a:r>
            <a:r>
              <a:rPr lang="zh-CN" altLang="en-US" sz="3200" b="1" kern="1200" dirty="0">
                <a:latin typeface="楷体_GB2312" pitchFamily="49" charset="-122"/>
                <a:ea typeface="+mn-ea"/>
                <a:cs typeface="+mn-cs"/>
              </a:rPr>
              <a:t>分</a:t>
            </a:r>
            <a:r>
              <a:rPr lang="en-US" altLang="zh-CN" sz="3200" b="1" kern="1200" dirty="0">
                <a:latin typeface="楷体_GB2312" pitchFamily="49" charset="-122"/>
                <a:ea typeface="+mn-ea"/>
                <a:cs typeface="+mn-cs"/>
              </a:rPr>
              <a:t>×10</a:t>
            </a:r>
            <a:r>
              <a:rPr lang="zh-CN" altLang="en-US" sz="3200" b="1" kern="1200" dirty="0">
                <a:latin typeface="楷体_GB2312" pitchFamily="49" charset="-122"/>
                <a:ea typeface="+mn-ea"/>
                <a:cs typeface="+mn-cs"/>
              </a:rPr>
              <a:t>个小题＝</a:t>
            </a:r>
            <a:r>
              <a:rPr lang="en-US" altLang="zh-CN" sz="3200" b="1" kern="1200" dirty="0">
                <a:latin typeface="楷体_GB2312" pitchFamily="49" charset="-122"/>
                <a:ea typeface="+mn-ea"/>
                <a:cs typeface="+mn-cs"/>
              </a:rPr>
              <a:t>20</a:t>
            </a:r>
            <a:r>
              <a:rPr lang="zh-CN" altLang="en-US" sz="3200" b="1" kern="1200" dirty="0">
                <a:latin typeface="楷体_GB2312" pitchFamily="49" charset="-122"/>
                <a:ea typeface="+mn-ea"/>
                <a:cs typeface="+mn-cs"/>
              </a:rPr>
              <a:t>分</a:t>
            </a:r>
            <a:endParaRPr lang="zh-CN" altLang="en-US" sz="3200" b="1" kern="1200" dirty="0">
              <a:latin typeface="楷体_GB2312" pitchFamily="49" charset="-122"/>
              <a:ea typeface="+mn-ea"/>
              <a:cs typeface="+mn-cs"/>
            </a:endParaRPr>
          </a:p>
          <a:p>
            <a:pPr eaLnBrk="1" hangingPunct="1">
              <a:lnSpc>
                <a:spcPts val="4200"/>
              </a:lnSpc>
              <a:buFont typeface="Wingdings" panose="05000000000000000000" pitchFamily="2" charset="2"/>
              <a:buNone/>
            </a:pPr>
            <a:r>
              <a:rPr lang="zh-CN" altLang="en-US" sz="3200" b="1" kern="1200" dirty="0">
                <a:latin typeface="黑体" panose="02010609060101010101" charset="-122"/>
                <a:ea typeface="黑体" panose="02010609060101010101" charset="-122"/>
                <a:cs typeface="+mn-cs"/>
              </a:rPr>
              <a:t>四、简答题</a:t>
            </a:r>
            <a:r>
              <a:rPr lang="zh-CN" altLang="en-US" sz="3200" b="1" kern="1200" dirty="0">
                <a:latin typeface="楷体_GB2312" pitchFamily="49" charset="-122"/>
                <a:ea typeface="+mn-ea"/>
                <a:cs typeface="+mn-cs"/>
              </a:rPr>
              <a:t>          </a:t>
            </a:r>
            <a:r>
              <a:rPr lang="en-US" altLang="zh-CN" sz="3200" b="1" kern="1200" dirty="0">
                <a:latin typeface="楷体_GB2312" pitchFamily="49" charset="-122"/>
                <a:ea typeface="+mn-ea"/>
                <a:cs typeface="+mn-cs"/>
              </a:rPr>
              <a:t>10</a:t>
            </a:r>
            <a:r>
              <a:rPr lang="zh-CN" altLang="en-US" sz="3200" b="1" kern="1200" dirty="0">
                <a:latin typeface="楷体_GB2312" pitchFamily="49" charset="-122"/>
                <a:ea typeface="+mn-ea"/>
                <a:cs typeface="+mn-cs"/>
              </a:rPr>
              <a:t>分</a:t>
            </a:r>
            <a:r>
              <a:rPr lang="en-US" altLang="zh-CN" sz="3200" b="1" kern="1200" dirty="0">
                <a:latin typeface="楷体_GB2312" pitchFamily="49" charset="-122"/>
                <a:ea typeface="+mn-ea"/>
                <a:cs typeface="+mn-cs"/>
              </a:rPr>
              <a:t>×3</a:t>
            </a:r>
            <a:r>
              <a:rPr lang="zh-CN" altLang="en-US" sz="3200" b="1" kern="1200" dirty="0">
                <a:latin typeface="楷体_GB2312" pitchFamily="49" charset="-122"/>
                <a:ea typeface="+mn-ea"/>
                <a:cs typeface="+mn-cs"/>
              </a:rPr>
              <a:t>个小题＝</a:t>
            </a:r>
            <a:r>
              <a:rPr lang="en-US" altLang="zh-CN" sz="3200" b="1" kern="1200" dirty="0">
                <a:latin typeface="楷体_GB2312" pitchFamily="49" charset="-122"/>
                <a:ea typeface="+mn-ea"/>
                <a:cs typeface="+mn-cs"/>
              </a:rPr>
              <a:t>30</a:t>
            </a:r>
            <a:r>
              <a:rPr lang="zh-CN" altLang="en-US" sz="3200" b="1" kern="1200" dirty="0">
                <a:latin typeface="楷体_GB2312" pitchFamily="49" charset="-122"/>
                <a:ea typeface="+mn-ea"/>
                <a:cs typeface="+mn-cs"/>
              </a:rPr>
              <a:t>分</a:t>
            </a:r>
            <a:endParaRPr lang="zh-CN" altLang="en-US" sz="3200" b="1" kern="1200" dirty="0">
              <a:latin typeface="楷体_GB2312" pitchFamily="49" charset="-122"/>
              <a:ea typeface="+mn-ea"/>
              <a:cs typeface="+mn-cs"/>
            </a:endParaRPr>
          </a:p>
          <a:p>
            <a:pPr eaLnBrk="1" hangingPunct="1">
              <a:lnSpc>
                <a:spcPts val="4200"/>
              </a:lnSpc>
              <a:buFont typeface="Wingdings" panose="05000000000000000000" pitchFamily="2" charset="2"/>
              <a:buNone/>
            </a:pPr>
            <a:r>
              <a:rPr lang="zh-CN" altLang="en-US" sz="3200" b="1" kern="1200" dirty="0">
                <a:latin typeface="黑体" panose="02010609060101010101" charset="-122"/>
                <a:ea typeface="黑体" panose="02010609060101010101" charset="-122"/>
                <a:cs typeface="+mn-cs"/>
              </a:rPr>
              <a:t>五、材料分析论述题</a:t>
            </a:r>
            <a:r>
              <a:rPr lang="zh-CN" altLang="en-US" sz="3200" b="1" kern="1200" dirty="0">
                <a:latin typeface="楷体_GB2312" pitchFamily="49" charset="-122"/>
                <a:ea typeface="+mn-ea"/>
                <a:cs typeface="+mn-cs"/>
              </a:rPr>
              <a:t>  </a:t>
            </a:r>
            <a:r>
              <a:rPr lang="en-US" altLang="zh-CN" sz="3200" b="1" kern="1200" dirty="0">
                <a:latin typeface="楷体_GB2312" pitchFamily="49" charset="-122"/>
                <a:ea typeface="+mn-ea"/>
                <a:cs typeface="+mn-cs"/>
              </a:rPr>
              <a:t>20</a:t>
            </a:r>
            <a:r>
              <a:rPr lang="zh-CN" altLang="en-US" sz="3200" b="1" kern="1200" dirty="0">
                <a:latin typeface="楷体_GB2312" pitchFamily="49" charset="-122"/>
                <a:ea typeface="+mn-ea"/>
                <a:cs typeface="+mn-cs"/>
              </a:rPr>
              <a:t>分</a:t>
            </a:r>
            <a:r>
              <a:rPr lang="en-US" altLang="zh-CN" sz="3200" b="1" kern="1200" dirty="0">
                <a:latin typeface="楷体_GB2312" pitchFamily="49" charset="-122"/>
                <a:ea typeface="+mn-ea"/>
                <a:cs typeface="+mn-cs"/>
              </a:rPr>
              <a:t>×1</a:t>
            </a:r>
            <a:r>
              <a:rPr lang="zh-CN" altLang="en-US" sz="3200" b="1" kern="1200" dirty="0">
                <a:latin typeface="楷体_GB2312" pitchFamily="49" charset="-122"/>
                <a:ea typeface="+mn-ea"/>
                <a:cs typeface="+mn-cs"/>
              </a:rPr>
              <a:t>个小题（含</a:t>
            </a:r>
            <a:r>
              <a:rPr lang="en-US" altLang="zh-CN" sz="3200" b="1" kern="1200" dirty="0">
                <a:latin typeface="楷体_GB2312" pitchFamily="49" charset="-122"/>
                <a:ea typeface="+mn-ea"/>
                <a:cs typeface="+mn-cs"/>
              </a:rPr>
              <a:t>2</a:t>
            </a:r>
            <a:r>
              <a:rPr lang="zh-CN" altLang="en-US" sz="3200" b="1" kern="1200" dirty="0">
                <a:latin typeface="楷体_GB2312" pitchFamily="49" charset="-122"/>
                <a:ea typeface="+mn-ea"/>
                <a:cs typeface="+mn-cs"/>
              </a:rPr>
              <a:t>个或</a:t>
            </a:r>
            <a:r>
              <a:rPr lang="en-US" altLang="zh-CN" sz="3200" b="1" kern="1200" dirty="0">
                <a:latin typeface="楷体_GB2312" pitchFamily="49" charset="-122"/>
                <a:ea typeface="+mn-ea"/>
                <a:cs typeface="+mn-cs"/>
              </a:rPr>
              <a:t>3</a:t>
            </a:r>
            <a:r>
              <a:rPr lang="zh-CN" altLang="en-US" sz="3200" b="1" kern="1200" dirty="0">
                <a:latin typeface="楷体_GB2312" pitchFamily="49" charset="-122"/>
                <a:ea typeface="+mn-ea"/>
                <a:cs typeface="+mn-cs"/>
              </a:rPr>
              <a:t>个问题）</a:t>
            </a:r>
            <a:r>
              <a:rPr lang="en-US" altLang="zh-CN" sz="3200" b="1" kern="1200" dirty="0">
                <a:latin typeface="楷体_GB2312" pitchFamily="49" charset="-122"/>
                <a:ea typeface="+mn-ea"/>
                <a:cs typeface="+mn-cs"/>
              </a:rPr>
              <a:t>                </a:t>
            </a:r>
            <a:endParaRPr lang="en-US" altLang="zh-CN" sz="3200" b="1" kern="1200" dirty="0">
              <a:latin typeface="楷体_GB2312" pitchFamily="49" charset="-122"/>
              <a:ea typeface="+mn-ea"/>
              <a:cs typeface="+mn-cs"/>
            </a:endParaRPr>
          </a:p>
          <a:p>
            <a:pPr eaLnBrk="1" hangingPunct="1">
              <a:lnSpc>
                <a:spcPts val="4200"/>
              </a:lnSpc>
              <a:buFont typeface="Wingdings" panose="05000000000000000000" pitchFamily="2" charset="2"/>
              <a:buNone/>
            </a:pPr>
            <a:r>
              <a:rPr lang="en-US" altLang="zh-CN" sz="3200" b="1" kern="1200" dirty="0">
                <a:latin typeface="楷体_GB2312" pitchFamily="49" charset="-122"/>
                <a:ea typeface="+mn-ea"/>
                <a:cs typeface="+mn-cs"/>
              </a:rPr>
              <a:t>                                 </a:t>
            </a:r>
            <a:r>
              <a:rPr lang="zh-CN" altLang="en-US" sz="3200" b="1" kern="1200" dirty="0">
                <a:latin typeface="楷体_GB2312" pitchFamily="49" charset="-122"/>
                <a:ea typeface="+mn-ea"/>
                <a:cs typeface="+mn-cs"/>
              </a:rPr>
              <a:t>＝</a:t>
            </a:r>
            <a:r>
              <a:rPr lang="en-US" altLang="zh-CN" sz="3200" b="1" kern="1200" dirty="0">
                <a:latin typeface="楷体_GB2312" pitchFamily="49" charset="-122"/>
                <a:ea typeface="+mn-ea"/>
                <a:cs typeface="+mn-cs"/>
              </a:rPr>
              <a:t>20</a:t>
            </a:r>
            <a:r>
              <a:rPr lang="zh-CN" altLang="en-US" sz="3200" b="1" kern="1200" dirty="0">
                <a:latin typeface="楷体_GB2312" pitchFamily="49" charset="-122"/>
                <a:ea typeface="+mn-ea"/>
                <a:cs typeface="+mn-cs"/>
              </a:rPr>
              <a:t>分</a:t>
            </a:r>
            <a:endParaRPr lang="zh-CN" altLang="en-US" sz="3200" b="1" kern="1200" dirty="0">
              <a:latin typeface="楷体_GB2312" pitchFamily="49" charset="-122"/>
              <a:ea typeface="+mn-ea"/>
              <a:cs typeface="+mn-cs"/>
            </a:endParaRPr>
          </a:p>
          <a:p>
            <a:pPr eaLnBrk="1" hangingPunct="1">
              <a:lnSpc>
                <a:spcPts val="4200"/>
              </a:lnSpc>
              <a:buFont typeface="Wingdings" panose="05000000000000000000" pitchFamily="2" charset="2"/>
              <a:buNone/>
            </a:pPr>
            <a:r>
              <a:rPr lang="zh-CN" altLang="en-US" sz="3200" b="1" kern="1200" dirty="0">
                <a:latin typeface="楷体_GB2312" pitchFamily="49" charset="-122"/>
                <a:ea typeface="+mn-ea"/>
                <a:cs typeface="+mn-cs"/>
              </a:rPr>
              <a:t>                    </a:t>
            </a:r>
            <a:r>
              <a:rPr lang="zh-CN" altLang="en-US" sz="3200" b="1" kern="1200" dirty="0">
                <a:solidFill>
                  <a:srgbClr val="FF0000"/>
                </a:solidFill>
                <a:latin typeface="楷体_GB2312" pitchFamily="49" charset="-122"/>
                <a:ea typeface="+mn-ea"/>
                <a:cs typeface="+mn-cs"/>
              </a:rPr>
              <a:t>卷面总分</a:t>
            </a:r>
            <a:r>
              <a:rPr lang="en-US" altLang="zh-CN" sz="3200" b="1" kern="1200" dirty="0">
                <a:solidFill>
                  <a:srgbClr val="FF0000"/>
                </a:solidFill>
                <a:latin typeface="黑体" panose="02010609060101010101" charset="-122"/>
                <a:ea typeface="+mn-ea"/>
                <a:cs typeface="+mn-cs"/>
              </a:rPr>
              <a:t>=</a:t>
            </a:r>
            <a:r>
              <a:rPr lang="en-US" altLang="zh-CN" sz="3200" b="1" kern="1200" dirty="0">
                <a:solidFill>
                  <a:srgbClr val="FF0000"/>
                </a:solidFill>
                <a:latin typeface="楷体_GB2312" pitchFamily="49" charset="-122"/>
                <a:ea typeface="+mn-ea"/>
                <a:cs typeface="+mn-cs"/>
              </a:rPr>
              <a:t>100</a:t>
            </a:r>
            <a:r>
              <a:rPr lang="zh-CN" altLang="en-US" sz="3200" b="1" kern="1200" dirty="0">
                <a:solidFill>
                  <a:srgbClr val="FF0000"/>
                </a:solidFill>
                <a:latin typeface="楷体_GB2312" pitchFamily="49" charset="-122"/>
                <a:ea typeface="+mn-ea"/>
                <a:cs typeface="+mn-cs"/>
              </a:rPr>
              <a:t>分</a:t>
            </a:r>
            <a:endParaRPr lang="zh-CN" altLang="en-US" sz="3200" b="1" kern="1200" dirty="0">
              <a:solidFill>
                <a:srgbClr val="FF0000"/>
              </a:solidFill>
              <a:latin typeface="楷体_GB2312" pitchFamily="49" charset="-122"/>
              <a:ea typeface="+mn-ea"/>
              <a:cs typeface="+mn-cs"/>
            </a:endParaRPr>
          </a:p>
        </p:txBody>
      </p:sp>
      <p:pic>
        <p:nvPicPr>
          <p:cNvPr id="4" name="图片 3" descr="CJ3036"/>
          <p:cNvPicPr>
            <a:picLocks noChangeAspect="1"/>
          </p:cNvPicPr>
          <p:nvPr/>
        </p:nvPicPr>
        <p:blipFill>
          <a:blip r:embed="rId1"/>
          <a:stretch>
            <a:fillRect/>
          </a:stretch>
        </p:blipFill>
        <p:spPr>
          <a:xfrm>
            <a:off x="1231265" y="404495"/>
            <a:ext cx="1217930" cy="8978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p:nvPr>
        </p:nvSpPr>
        <p:spPr>
          <a:xfrm>
            <a:off x="2178050" y="309245"/>
            <a:ext cx="7632700" cy="997585"/>
          </a:xfrm>
        </p:spPr>
        <p:txBody>
          <a:bodyPr vert="horz" wrap="square" lIns="91440" tIns="45720" rIns="91440" bIns="45720" numCol="1" anchor="ctr" anchorCtr="0" compatLnSpc="1">
            <a:noAutofit/>
          </a:bodyPr>
          <a:lstStyle/>
          <a:p>
            <a:pPr marL="0" marR="0" lvl="0" indent="0" algn="ctr" defTabSz="914400" rtl="0" eaLnBrk="1" fontAlgn="base" latinLnBrk="0" hangingPunct="1">
              <a:lnSpc>
                <a:spcPct val="130000"/>
              </a:lnSpc>
              <a:spcBef>
                <a:spcPct val="0"/>
              </a:spcBef>
              <a:spcAft>
                <a:spcPct val="0"/>
              </a:spcAft>
              <a:buClrTx/>
              <a:buSzTx/>
              <a:buFontTx/>
              <a:buNone/>
              <a:defRPr/>
            </a:pPr>
            <a:r>
              <a:rPr kumimoji="0" lang="zh-CN" altLang="en-US" sz="4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j-cs"/>
              </a:rPr>
              <a:t>命题范围</a:t>
            </a:r>
            <a:endParaRPr kumimoji="0" lang="zh-CN" altLang="en-US" sz="4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j-cs"/>
            </a:endParaRPr>
          </a:p>
        </p:txBody>
      </p:sp>
      <p:sp>
        <p:nvSpPr>
          <p:cNvPr id="12290" name="Rectangle 5"/>
          <p:cNvSpPr>
            <a:spLocks noGrp="1"/>
          </p:cNvSpPr>
          <p:nvPr>
            <p:ph idx="1"/>
          </p:nvPr>
        </p:nvSpPr>
        <p:spPr>
          <a:xfrm>
            <a:off x="88265" y="1677670"/>
            <a:ext cx="5871210" cy="4140200"/>
          </a:xfrm>
        </p:spPr>
        <p:txBody>
          <a:bodyPr vert="horz" wrap="square" lIns="91440" tIns="45720" rIns="91440" bIns="45720" anchor="t" anchorCtr="0"/>
          <a:lstStyle/>
          <a:p>
            <a:pPr eaLnBrk="1" hangingPunct="1">
              <a:lnSpc>
                <a:spcPct val="150000"/>
              </a:lnSpc>
            </a:pPr>
            <a:r>
              <a:rPr lang="zh-CN" altLang="en-US" sz="2800" b="1" kern="1200" dirty="0">
                <a:latin typeface="+mn-lt"/>
                <a:ea typeface="+mn-ea"/>
                <a:cs typeface="+mn-cs"/>
              </a:rPr>
              <a:t>本书编写组：《思想道德与法治》（</a:t>
            </a:r>
            <a:r>
              <a:rPr lang="en-US" altLang="zh-CN" sz="2800" b="1" kern="1200" dirty="0">
                <a:latin typeface="+mn-lt"/>
                <a:ea typeface="+mn-ea"/>
                <a:cs typeface="+mn-cs"/>
              </a:rPr>
              <a:t>2023</a:t>
            </a:r>
            <a:r>
              <a:rPr lang="zh-CN" altLang="en-US" sz="2800" b="1" kern="1200" dirty="0">
                <a:latin typeface="+mn-lt"/>
                <a:ea typeface="+mn-ea"/>
                <a:cs typeface="+mn-cs"/>
              </a:rPr>
              <a:t>年版）绪论至第六章</a:t>
            </a:r>
            <a:endParaRPr lang="zh-CN" altLang="en-US" sz="2800" b="1" kern="1200" dirty="0">
              <a:latin typeface="+mn-lt"/>
              <a:ea typeface="+mn-ea"/>
              <a:cs typeface="+mn-cs"/>
            </a:endParaRPr>
          </a:p>
          <a:p>
            <a:pPr marL="0" indent="0" eaLnBrk="1" hangingPunct="1">
              <a:lnSpc>
                <a:spcPct val="150000"/>
              </a:lnSpc>
              <a:buNone/>
            </a:pPr>
            <a:endParaRPr lang="zh-CN" altLang="en-US" sz="2800" b="1" kern="1200" dirty="0">
              <a:latin typeface="+mn-lt"/>
              <a:ea typeface="+mn-ea"/>
              <a:cs typeface="+mn-cs"/>
            </a:endParaRPr>
          </a:p>
        </p:txBody>
      </p:sp>
      <p:pic>
        <p:nvPicPr>
          <p:cNvPr id="4" name="图片 3" descr="CJ3036"/>
          <p:cNvPicPr>
            <a:picLocks noChangeAspect="1"/>
          </p:cNvPicPr>
          <p:nvPr/>
        </p:nvPicPr>
        <p:blipFill>
          <a:blip r:embed="rId1"/>
          <a:stretch>
            <a:fillRect/>
          </a:stretch>
        </p:blipFill>
        <p:spPr>
          <a:xfrm>
            <a:off x="1155065" y="408940"/>
            <a:ext cx="1217930" cy="897890"/>
          </a:xfrm>
          <a:prstGeom prst="rect">
            <a:avLst/>
          </a:prstGeom>
        </p:spPr>
      </p:pic>
      <p:sp>
        <p:nvSpPr>
          <p:cNvPr id="3" name="Rectangle 5"/>
          <p:cNvSpPr>
            <a:spLocks noGrp="1"/>
          </p:cNvSpPr>
          <p:nvPr>
            <p:custDataLst>
              <p:tags r:id="rId2"/>
            </p:custDataLst>
          </p:nvPr>
        </p:nvSpPr>
        <p:spPr>
          <a:xfrm>
            <a:off x="6096000" y="1589405"/>
            <a:ext cx="6095365" cy="4140200"/>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pPr>
            <a:r>
              <a:rPr lang="zh-CN" altLang="en-US" sz="2800" b="1" kern="1200" dirty="0">
                <a:latin typeface="+mn-lt"/>
                <a:ea typeface="+mn-ea"/>
                <a:cs typeface="+mn-cs"/>
              </a:rPr>
              <a:t>李辽宁、郭绍均主编：《</a:t>
            </a:r>
            <a:r>
              <a:rPr lang="en-US" altLang="zh-CN" sz="2800" b="1" kern="1200" dirty="0">
                <a:latin typeface="+mn-lt"/>
                <a:ea typeface="+mn-ea"/>
                <a:cs typeface="+mn-cs"/>
              </a:rPr>
              <a:t>&lt;</a:t>
            </a:r>
            <a:r>
              <a:rPr lang="zh-CN" altLang="en-US" sz="2800" b="1" kern="1200" dirty="0">
                <a:latin typeface="+mn-lt"/>
                <a:ea typeface="+mn-ea"/>
                <a:cs typeface="+mn-cs"/>
              </a:rPr>
              <a:t>思想道德与法治</a:t>
            </a:r>
            <a:r>
              <a:rPr lang="en-US" altLang="zh-CN" sz="2800" b="1" kern="1200" dirty="0">
                <a:latin typeface="+mn-lt"/>
                <a:ea typeface="+mn-ea"/>
                <a:cs typeface="+mn-cs"/>
              </a:rPr>
              <a:t>&gt;</a:t>
            </a:r>
            <a:r>
              <a:rPr lang="zh-CN" altLang="en-US" sz="2800" b="1" kern="1200" dirty="0">
                <a:latin typeface="+mn-lt"/>
                <a:ea typeface="+mn-ea"/>
                <a:cs typeface="+mn-cs"/>
              </a:rPr>
              <a:t>学生学习指导》（</a:t>
            </a:r>
            <a:r>
              <a:rPr lang="en-US" altLang="zh-CN" sz="2800" b="1" kern="1200" dirty="0">
                <a:latin typeface="+mn-lt"/>
                <a:ea typeface="+mn-ea"/>
                <a:cs typeface="+mn-cs"/>
              </a:rPr>
              <a:t>2024</a:t>
            </a:r>
            <a:r>
              <a:rPr lang="zh-CN" altLang="en-US" sz="2800" b="1" kern="1200" dirty="0">
                <a:latin typeface="+mn-lt"/>
                <a:ea typeface="+mn-ea"/>
                <a:cs typeface="+mn-cs"/>
              </a:rPr>
              <a:t>版）</a:t>
            </a:r>
            <a:endParaRPr lang="zh-CN" altLang="en-US" sz="2800" b="1" kern="1200" dirty="0">
              <a:latin typeface="+mn-lt"/>
              <a:ea typeface="+mn-ea"/>
              <a:cs typeface="+mn-cs"/>
            </a:endParaRPr>
          </a:p>
        </p:txBody>
      </p:sp>
      <p:pic>
        <p:nvPicPr>
          <p:cNvPr id="6" name="图片 5" descr="QQ截图20231205103355"/>
          <p:cNvPicPr>
            <a:picLocks noChangeAspect="1"/>
          </p:cNvPicPr>
          <p:nvPr/>
        </p:nvPicPr>
        <p:blipFill>
          <a:blip r:embed="rId3"/>
          <a:stretch>
            <a:fillRect/>
          </a:stretch>
        </p:blipFill>
        <p:spPr>
          <a:xfrm>
            <a:off x="982345" y="3011170"/>
            <a:ext cx="3863975" cy="3846830"/>
          </a:xfrm>
          <a:prstGeom prst="rect">
            <a:avLst/>
          </a:prstGeom>
        </p:spPr>
      </p:pic>
      <p:pic>
        <p:nvPicPr>
          <p:cNvPr id="2" name="图片 1" descr="《思想道德与法治》学生学习指导效果图"/>
          <p:cNvPicPr>
            <a:picLocks noChangeAspect="1"/>
          </p:cNvPicPr>
          <p:nvPr/>
        </p:nvPicPr>
        <p:blipFill>
          <a:blip r:embed="rId4"/>
          <a:stretch>
            <a:fillRect/>
          </a:stretch>
        </p:blipFill>
        <p:spPr>
          <a:xfrm>
            <a:off x="7106285" y="3011170"/>
            <a:ext cx="3986530" cy="37376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508000"/>
            <a:ext cx="10515600" cy="969010"/>
          </a:xfrm>
        </p:spPr>
        <p:txBody>
          <a:bodyPr/>
          <a:lstStyle/>
          <a:p>
            <a:pPr algn="ctr">
              <a:buClrTx/>
              <a:buSzTx/>
              <a:buFontTx/>
            </a:pP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绪论</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担当复兴大任</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成就时代新人</a:t>
            </a:r>
            <a:endParaRPr lang="zh-CN" altLang="en-US">
              <a:solidFill>
                <a:srgbClr val="FF0000"/>
              </a:solidFill>
              <a:latin typeface="黑体" panose="02010609060101010101" charset="-122"/>
              <a:ea typeface="黑体" panose="02010609060101010101" charset="-122"/>
            </a:endParaRPr>
          </a:p>
        </p:txBody>
      </p:sp>
      <p:sp>
        <p:nvSpPr>
          <p:cNvPr id="3" name="内容占位符 2"/>
          <p:cNvSpPr>
            <a:spLocks noGrp="1"/>
          </p:cNvSpPr>
          <p:nvPr>
            <p:ph idx="1"/>
          </p:nvPr>
        </p:nvSpPr>
        <p:spPr>
          <a:xfrm>
            <a:off x="1433195" y="2265045"/>
            <a:ext cx="9920605" cy="4200525"/>
          </a:xfrm>
        </p:spPr>
        <p:txBody>
          <a:bodyPr>
            <a:normAutofit/>
          </a:bodyPr>
          <a:lstStyle/>
          <a:p>
            <a:pPr marL="0" algn="l">
              <a:lnSpc>
                <a:spcPct val="150000"/>
              </a:lnSpc>
              <a:spcBef>
                <a:spcPts val="0"/>
              </a:spcBef>
              <a:spcAft>
                <a:spcPts val="0"/>
              </a:spcAft>
              <a:buClrTx/>
              <a:buSzTx/>
              <a:buFont typeface="+mj-lt"/>
              <a:buNone/>
            </a:pPr>
            <a:r>
              <a:rPr lang="zh-CN" altLang="en-US" sz="3200" b="1" dirty="0">
                <a:sym typeface="+mn-ea"/>
              </a:rPr>
              <a:t>1.我们处在中国特色社会主义新时代（P</a:t>
            </a:r>
            <a:r>
              <a:rPr lang="en-US" altLang="zh-CN" b="1" dirty="0">
                <a:sym typeface="+mn-ea"/>
              </a:rPr>
              <a:t>1</a:t>
            </a:r>
            <a:r>
              <a:rPr lang="zh-CN" altLang="en-US" sz="3200" b="1" dirty="0">
                <a:sym typeface="+mn-ea"/>
              </a:rPr>
              <a:t>—</a:t>
            </a:r>
            <a:r>
              <a:rPr lang="en-US" altLang="zh-CN" b="1" dirty="0">
                <a:sym typeface="+mn-ea"/>
              </a:rPr>
              <a:t>2</a:t>
            </a:r>
            <a:r>
              <a:rPr lang="zh-CN" altLang="en-US" sz="3200" b="1" dirty="0">
                <a:sym typeface="+mn-ea"/>
              </a:rPr>
              <a:t>）</a:t>
            </a:r>
            <a:endParaRPr lang="en-US" altLang="zh-CN" sz="3200" b="1" dirty="0">
              <a:sym typeface="+mn-ea"/>
            </a:endParaRPr>
          </a:p>
          <a:p>
            <a:pPr marL="0" algn="l">
              <a:lnSpc>
                <a:spcPct val="150000"/>
              </a:lnSpc>
              <a:spcBef>
                <a:spcPts val="0"/>
              </a:spcBef>
              <a:spcAft>
                <a:spcPts val="0"/>
              </a:spcAft>
              <a:buClrTx/>
              <a:buSzTx/>
              <a:buFont typeface="+mj-lt"/>
              <a:buNone/>
            </a:pPr>
            <a:r>
              <a:rPr lang="en-US" altLang="zh-CN" sz="3200" b="1" dirty="0">
                <a:sym typeface="+mn-ea"/>
              </a:rPr>
              <a:t>2</a:t>
            </a:r>
            <a:r>
              <a:rPr lang="zh-CN" altLang="en-US" sz="3200" b="1" dirty="0">
                <a:sym typeface="+mn-ea"/>
              </a:rPr>
              <a:t>.新时代呼唤担当民族复兴大任的时代新人（P</a:t>
            </a:r>
            <a:r>
              <a:rPr lang="en-US" altLang="zh-CN" sz="3200" b="1" dirty="0">
                <a:sym typeface="+mn-ea"/>
              </a:rPr>
              <a:t>5</a:t>
            </a:r>
            <a:r>
              <a:rPr lang="zh-CN" altLang="en-US" sz="3200" b="1" dirty="0">
                <a:sym typeface="+mn-ea"/>
              </a:rPr>
              <a:t>—</a:t>
            </a:r>
            <a:r>
              <a:rPr lang="en-US" altLang="zh-CN" b="1" dirty="0">
                <a:sym typeface="+mn-ea"/>
              </a:rPr>
              <a:t>8</a:t>
            </a:r>
            <a:r>
              <a:rPr lang="zh-CN" altLang="en-US" sz="3200" b="1" dirty="0">
                <a:sym typeface="+mn-ea"/>
              </a:rPr>
              <a:t>）</a:t>
            </a:r>
            <a:endParaRPr lang="zh-CN" altLang="en-US" sz="3200" b="1" dirty="0">
              <a:sym typeface="+mn-ea"/>
            </a:endParaRPr>
          </a:p>
          <a:p>
            <a:pPr marL="0" algn="l">
              <a:lnSpc>
                <a:spcPct val="150000"/>
              </a:lnSpc>
              <a:spcBef>
                <a:spcPts val="0"/>
              </a:spcBef>
              <a:spcAft>
                <a:spcPts val="0"/>
              </a:spcAft>
              <a:buClrTx/>
              <a:buSzTx/>
              <a:buFont typeface="+mj-lt"/>
              <a:buNone/>
            </a:pPr>
            <a:r>
              <a:rPr lang="en-US" altLang="zh-CN" b="1" dirty="0">
                <a:sym typeface="+mn-ea"/>
              </a:rPr>
              <a:t>3</a:t>
            </a:r>
            <a:r>
              <a:rPr lang="zh-CN" altLang="en-US" sz="3200" b="1" dirty="0">
                <a:sym typeface="+mn-ea"/>
              </a:rPr>
              <a:t>.道德与法律的关系（P</a:t>
            </a:r>
            <a:r>
              <a:rPr lang="en-US" altLang="zh-CN" sz="3200" b="1" dirty="0">
                <a:sym typeface="+mn-ea"/>
              </a:rPr>
              <a:t>9</a:t>
            </a:r>
            <a:r>
              <a:rPr lang="zh-CN" altLang="en-US" sz="3200" b="1" dirty="0">
                <a:sym typeface="+mn-ea"/>
              </a:rPr>
              <a:t>）</a:t>
            </a:r>
            <a:endParaRPr lang="zh-CN" altLang="en-US" sz="9600" b="1" dirty="0">
              <a:sym typeface="+mn-ea"/>
            </a:endParaRPr>
          </a:p>
        </p:txBody>
      </p:sp>
      <p:pic>
        <p:nvPicPr>
          <p:cNvPr id="4" name="图片 3" descr="GIF-267"/>
          <p:cNvPicPr>
            <a:picLocks noChangeAspect="1"/>
          </p:cNvPicPr>
          <p:nvPr/>
        </p:nvPicPr>
        <p:blipFill>
          <a:blip r:embed="rId1"/>
          <a:stretch>
            <a:fillRect/>
          </a:stretch>
        </p:blipFill>
        <p:spPr>
          <a:xfrm>
            <a:off x="499110" y="508000"/>
            <a:ext cx="1229995" cy="800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24205"/>
            <a:ext cx="10515600" cy="969010"/>
          </a:xfrm>
        </p:spPr>
        <p:txBody>
          <a:bodyPr/>
          <a:lstStyle/>
          <a:p>
            <a:pPr algn="ctr">
              <a:buClrTx/>
              <a:buSzTx/>
              <a:buFontTx/>
            </a:pP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第一章</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领悟人生真谛</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把握人生方向</a:t>
            </a:r>
            <a:endParaRPr lang="zh-CN" altLang="en-US">
              <a:solidFill>
                <a:srgbClr val="FF0000"/>
              </a:solidFill>
              <a:latin typeface="黑体" panose="02010609060101010101" charset="-122"/>
              <a:ea typeface="黑体" panose="02010609060101010101" charset="-122"/>
            </a:endParaRPr>
          </a:p>
        </p:txBody>
      </p:sp>
      <p:sp>
        <p:nvSpPr>
          <p:cNvPr id="3" name="内容占位符 2"/>
          <p:cNvSpPr>
            <a:spLocks noGrp="1"/>
          </p:cNvSpPr>
          <p:nvPr>
            <p:ph idx="1"/>
          </p:nvPr>
        </p:nvSpPr>
        <p:spPr>
          <a:xfrm>
            <a:off x="1197610" y="2188210"/>
            <a:ext cx="10139680" cy="4869815"/>
          </a:xfrm>
        </p:spPr>
        <p:txBody>
          <a:bodyPr>
            <a:normAutofit/>
          </a:bodyPr>
          <a:lstStyle/>
          <a:p>
            <a:pPr marL="0" algn="l">
              <a:lnSpc>
                <a:spcPts val="4500"/>
              </a:lnSpc>
              <a:spcBef>
                <a:spcPts val="0"/>
              </a:spcBef>
              <a:spcAft>
                <a:spcPts val="0"/>
              </a:spcAft>
              <a:buClrTx/>
              <a:buSzTx/>
              <a:buFont typeface="+mj-lt"/>
              <a:buNone/>
            </a:pPr>
            <a:r>
              <a:rPr lang="zh-CN" altLang="en-US" sz="3200" b="1" dirty="0">
                <a:sym typeface="+mn-ea"/>
              </a:rPr>
              <a:t>1.马克思主义关于人的本质的认识（P1</a:t>
            </a:r>
            <a:r>
              <a:rPr lang="en-US" altLang="zh-CN" sz="3200" b="1" dirty="0">
                <a:sym typeface="+mn-ea"/>
              </a:rPr>
              <a:t>4</a:t>
            </a:r>
            <a:r>
              <a:rPr lang="zh-CN" altLang="en-US" sz="3200" b="1" dirty="0">
                <a:sym typeface="+mn-ea"/>
              </a:rPr>
              <a:t>）</a:t>
            </a:r>
            <a:endParaRPr lang="zh-CN" altLang="en-US" sz="3200" b="1" dirty="0">
              <a:sym typeface="+mn-ea"/>
            </a:endParaRPr>
          </a:p>
          <a:p>
            <a:pPr marL="0" algn="l">
              <a:lnSpc>
                <a:spcPts val="4500"/>
              </a:lnSpc>
              <a:spcBef>
                <a:spcPts val="0"/>
              </a:spcBef>
              <a:spcAft>
                <a:spcPts val="0"/>
              </a:spcAft>
              <a:buClrTx/>
              <a:buSzTx/>
              <a:buFont typeface="+mj-lt"/>
              <a:buNone/>
            </a:pPr>
            <a:r>
              <a:rPr lang="zh-CN" altLang="en-US" sz="3200" b="1" dirty="0">
                <a:sym typeface="+mn-ea"/>
              </a:rPr>
              <a:t>2. 个人与社会的辩证关系（P</a:t>
            </a:r>
            <a:r>
              <a:rPr lang="en-US" altLang="zh-CN" sz="3200" b="1" dirty="0">
                <a:sym typeface="+mn-ea"/>
              </a:rPr>
              <a:t>15-</a:t>
            </a:r>
            <a:r>
              <a:rPr lang="zh-CN" altLang="en-US" sz="3200" b="1" dirty="0">
                <a:sym typeface="+mn-ea"/>
              </a:rPr>
              <a:t>1</a:t>
            </a:r>
            <a:r>
              <a:rPr lang="en-US" altLang="zh-CN" sz="3200" b="1" dirty="0">
                <a:sym typeface="+mn-ea"/>
              </a:rPr>
              <a:t>6</a:t>
            </a:r>
            <a:r>
              <a:rPr lang="zh-CN" altLang="en-US" sz="3200" b="1" dirty="0">
                <a:sym typeface="+mn-ea"/>
              </a:rPr>
              <a:t>）</a:t>
            </a:r>
            <a:endParaRPr lang="zh-CN" altLang="en-US" sz="3200" b="1" dirty="0">
              <a:sym typeface="+mn-ea"/>
            </a:endParaRPr>
          </a:p>
          <a:p>
            <a:pPr marL="0" algn="l">
              <a:lnSpc>
                <a:spcPts val="4500"/>
              </a:lnSpc>
              <a:spcBef>
                <a:spcPts val="0"/>
              </a:spcBef>
              <a:spcAft>
                <a:spcPts val="0"/>
              </a:spcAft>
              <a:buClrTx/>
              <a:buSzTx/>
              <a:buFont typeface="+mj-lt"/>
              <a:buNone/>
            </a:pPr>
            <a:r>
              <a:rPr lang="zh-CN" altLang="en-US" sz="3200" b="1" dirty="0"/>
              <a:t>3.人生观的主要内容（P1</a:t>
            </a:r>
            <a:r>
              <a:rPr lang="en-US" altLang="zh-CN" sz="3200" b="1" dirty="0"/>
              <a:t>7-19</a:t>
            </a:r>
            <a:r>
              <a:rPr lang="zh-CN" altLang="en-US" sz="3200" b="1" dirty="0"/>
              <a:t>）</a:t>
            </a:r>
            <a:endParaRPr lang="zh-CN" altLang="en-US" sz="3200" b="1" dirty="0"/>
          </a:p>
          <a:p>
            <a:pPr marL="0" algn="l">
              <a:lnSpc>
                <a:spcPts val="4500"/>
              </a:lnSpc>
              <a:spcBef>
                <a:spcPts val="0"/>
              </a:spcBef>
              <a:spcAft>
                <a:spcPts val="0"/>
              </a:spcAft>
              <a:buClrTx/>
              <a:buSzTx/>
              <a:buFont typeface="+mj-lt"/>
              <a:buNone/>
            </a:pPr>
            <a:r>
              <a:rPr lang="en-US" altLang="zh-CN" sz="3200" b="1" dirty="0"/>
              <a:t>4.</a:t>
            </a:r>
            <a:r>
              <a:rPr lang="zh-CN" altLang="en-US" sz="3200" b="1" dirty="0"/>
              <a:t>人生价值的评价与实现（</a:t>
            </a:r>
            <a:r>
              <a:rPr lang="en-US" altLang="zh-CN" sz="3200" b="1" dirty="0"/>
              <a:t>P27</a:t>
            </a:r>
            <a:r>
              <a:rPr lang="zh-CN" altLang="en-US" sz="3200" b="1" dirty="0"/>
              <a:t>）</a:t>
            </a:r>
            <a:endParaRPr lang="zh-CN" altLang="en-US" sz="3200" b="1" dirty="0"/>
          </a:p>
          <a:p>
            <a:pPr marL="0" algn="l">
              <a:lnSpc>
                <a:spcPts val="4500"/>
              </a:lnSpc>
              <a:spcBef>
                <a:spcPts val="0"/>
              </a:spcBef>
              <a:spcAft>
                <a:spcPts val="0"/>
              </a:spcAft>
              <a:buClrTx/>
              <a:buSzTx/>
              <a:buFont typeface="+mj-lt"/>
              <a:buNone/>
            </a:pPr>
            <a:endParaRPr lang="zh-CN" altLang="en-US" sz="9600" b="1" dirty="0">
              <a:solidFill>
                <a:srgbClr val="FF0000"/>
              </a:solidFill>
              <a:sym typeface="+mn-ea"/>
            </a:endParaRPr>
          </a:p>
        </p:txBody>
      </p:sp>
      <p:pic>
        <p:nvPicPr>
          <p:cNvPr id="4" name="图片 3" descr="GIF-267"/>
          <p:cNvPicPr>
            <a:picLocks noChangeAspect="1"/>
          </p:cNvPicPr>
          <p:nvPr/>
        </p:nvPicPr>
        <p:blipFill>
          <a:blip r:embed="rId1"/>
          <a:stretch>
            <a:fillRect/>
          </a:stretch>
        </p:blipFill>
        <p:spPr>
          <a:xfrm>
            <a:off x="125095" y="624205"/>
            <a:ext cx="1229995" cy="800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08965"/>
            <a:ext cx="10515600" cy="969010"/>
          </a:xfrm>
        </p:spPr>
        <p:txBody>
          <a:bodyPr/>
          <a:lstStyle/>
          <a:p>
            <a:pPr algn="ctr">
              <a:buClrTx/>
              <a:buSzTx/>
              <a:buFontTx/>
            </a:pP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第二章</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追求远大理想</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坚定崇高信念</a:t>
            </a:r>
            <a:endParaRPr lang="zh-CN" altLang="en-US">
              <a:solidFill>
                <a:srgbClr val="FF0000"/>
              </a:solidFill>
              <a:latin typeface="黑体" panose="02010609060101010101" charset="-122"/>
              <a:ea typeface="黑体" panose="02010609060101010101" charset="-122"/>
            </a:endParaRPr>
          </a:p>
        </p:txBody>
      </p:sp>
      <p:sp>
        <p:nvSpPr>
          <p:cNvPr id="3" name="内容占位符 2"/>
          <p:cNvSpPr>
            <a:spLocks noGrp="1"/>
          </p:cNvSpPr>
          <p:nvPr>
            <p:ph idx="1"/>
          </p:nvPr>
        </p:nvSpPr>
        <p:spPr>
          <a:xfrm>
            <a:off x="1390015" y="1827530"/>
            <a:ext cx="9723755" cy="4351655"/>
          </a:xfrm>
        </p:spPr>
        <p:txBody>
          <a:bodyPr>
            <a:normAutofit/>
          </a:bodyPr>
          <a:lstStyle/>
          <a:p>
            <a:pPr marL="0" algn="l">
              <a:lnSpc>
                <a:spcPts val="4500"/>
              </a:lnSpc>
              <a:spcBef>
                <a:spcPts val="0"/>
              </a:spcBef>
              <a:spcAft>
                <a:spcPts val="0"/>
              </a:spcAft>
              <a:buClrTx/>
              <a:buSzTx/>
              <a:buFont typeface="+mj-lt"/>
              <a:buNone/>
            </a:pPr>
            <a:r>
              <a:rPr lang="en-US" altLang="zh-CN" b="1" dirty="0">
                <a:sym typeface="+mn-ea"/>
              </a:rPr>
              <a:t>1</a:t>
            </a:r>
            <a:r>
              <a:rPr lang="zh-CN" altLang="en-US" b="1" dirty="0">
                <a:sym typeface="+mn-ea"/>
              </a:rPr>
              <a:t>.信念的内涵及特征（P</a:t>
            </a:r>
            <a:r>
              <a:rPr lang="en-US" altLang="zh-CN" b="1" dirty="0">
                <a:sym typeface="+mn-ea"/>
              </a:rPr>
              <a:t>45-</a:t>
            </a:r>
            <a:r>
              <a:rPr lang="zh-CN" altLang="en-US" b="1" dirty="0">
                <a:sym typeface="+mn-ea"/>
              </a:rPr>
              <a:t>4</a:t>
            </a:r>
            <a:r>
              <a:rPr lang="en-US" altLang="zh-CN" b="1" dirty="0">
                <a:sym typeface="+mn-ea"/>
              </a:rPr>
              <a:t>6</a:t>
            </a:r>
            <a:r>
              <a:rPr lang="zh-CN" altLang="en-US" b="1" dirty="0">
                <a:sym typeface="+mn-ea"/>
              </a:rPr>
              <a:t>）</a:t>
            </a:r>
            <a:endParaRPr lang="zh-CN" altLang="en-US" b="1" dirty="0">
              <a:sym typeface="+mn-ea"/>
            </a:endParaRPr>
          </a:p>
          <a:p>
            <a:pPr marL="0" algn="l">
              <a:lnSpc>
                <a:spcPts val="4500"/>
              </a:lnSpc>
              <a:spcBef>
                <a:spcPts val="0"/>
              </a:spcBef>
              <a:spcAft>
                <a:spcPts val="0"/>
              </a:spcAft>
              <a:buClrTx/>
              <a:buSzTx/>
              <a:buFont typeface="+mj-lt"/>
              <a:buNone/>
            </a:pPr>
            <a:r>
              <a:rPr lang="en-US" altLang="zh-CN" b="1" dirty="0">
                <a:sym typeface="+mn-ea"/>
              </a:rPr>
              <a:t>2.</a:t>
            </a:r>
            <a:r>
              <a:rPr lang="zh-CN" altLang="en-US" b="1" dirty="0">
                <a:sym typeface="+mn-ea"/>
              </a:rPr>
              <a:t>理想信念是精神之“钙”（P</a:t>
            </a:r>
            <a:r>
              <a:rPr lang="en-US" altLang="zh-CN" b="1" dirty="0">
                <a:sym typeface="+mn-ea"/>
              </a:rPr>
              <a:t>47-</a:t>
            </a:r>
            <a:r>
              <a:rPr lang="zh-CN" altLang="en-US" b="1" dirty="0">
                <a:sym typeface="+mn-ea"/>
              </a:rPr>
              <a:t>4</a:t>
            </a:r>
            <a:r>
              <a:rPr lang="en-US" altLang="zh-CN" b="1" dirty="0">
                <a:sym typeface="+mn-ea"/>
              </a:rPr>
              <a:t>9</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r>
              <a:rPr lang="en-US" altLang="zh-CN" b="1" dirty="0">
                <a:sym typeface="+mn-ea"/>
              </a:rPr>
              <a:t>3.</a:t>
            </a:r>
            <a:r>
              <a:rPr lang="zh-CN" altLang="en-US" b="1" dirty="0">
                <a:sym typeface="+mn-ea"/>
              </a:rPr>
              <a:t>增强对马克思主义、共产主义的信仰（</a:t>
            </a:r>
            <a:r>
              <a:rPr lang="en-US" altLang="zh-CN" b="1" dirty="0">
                <a:sym typeface="+mn-ea"/>
              </a:rPr>
              <a:t>P51-55</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r>
              <a:rPr lang="en-US" altLang="zh-CN" b="1" dirty="0">
                <a:sym typeface="+mn-ea"/>
              </a:rPr>
              <a:t>4.</a:t>
            </a:r>
            <a:r>
              <a:rPr lang="zh-CN" altLang="en-US" b="1" dirty="0">
                <a:sym typeface="+mn-ea"/>
              </a:rPr>
              <a:t>增强对中国特色社会主义的信念（</a:t>
            </a:r>
            <a:r>
              <a:rPr lang="en-US" altLang="zh-CN" b="1" dirty="0">
                <a:sym typeface="+mn-ea"/>
              </a:rPr>
              <a:t>P56</a:t>
            </a:r>
            <a:r>
              <a:rPr lang="zh-CN" altLang="en-US" b="1" dirty="0">
                <a:sym typeface="+mn-ea"/>
              </a:rPr>
              <a:t>）</a:t>
            </a:r>
            <a:endParaRPr lang="en-US" altLang="zh-CN" b="1" dirty="0">
              <a:sym typeface="+mn-ea"/>
            </a:endParaRPr>
          </a:p>
          <a:p>
            <a:pPr marL="0">
              <a:lnSpc>
                <a:spcPts val="4500"/>
              </a:lnSpc>
              <a:spcBef>
                <a:spcPts val="0"/>
              </a:spcBef>
              <a:buNone/>
            </a:pPr>
            <a:r>
              <a:rPr lang="en-US" altLang="zh-CN" b="1" dirty="0">
                <a:sym typeface="+mn-ea"/>
              </a:rPr>
              <a:t>5</a:t>
            </a:r>
            <a:r>
              <a:rPr lang="zh-CN" altLang="en-US" b="1" dirty="0">
                <a:sym typeface="+mn-ea"/>
              </a:rPr>
              <a:t>.科学把握理想和现实的辩证统一（P</a:t>
            </a:r>
            <a:r>
              <a:rPr lang="en-US" altLang="zh-CN" b="1" dirty="0">
                <a:sym typeface="+mn-ea"/>
              </a:rPr>
              <a:t>61</a:t>
            </a:r>
            <a:r>
              <a:rPr lang="zh-CN" altLang="en-US" b="1" dirty="0">
                <a:sym typeface="+mn-ea"/>
              </a:rPr>
              <a:t>—6</a:t>
            </a:r>
            <a:r>
              <a:rPr lang="en-US" altLang="zh-CN" b="1" dirty="0">
                <a:sym typeface="+mn-ea"/>
              </a:rPr>
              <a:t>4</a:t>
            </a:r>
            <a:r>
              <a:rPr lang="zh-CN" altLang="en-US" b="1" dirty="0">
                <a:sym typeface="+mn-ea"/>
              </a:rPr>
              <a:t>）</a:t>
            </a:r>
            <a:endParaRPr lang="zh-CN" altLang="en-US" b="1" dirty="0">
              <a:sym typeface="+mn-ea"/>
            </a:endParaRPr>
          </a:p>
          <a:p>
            <a:pPr marL="0" algn="l">
              <a:lnSpc>
                <a:spcPts val="4500"/>
              </a:lnSpc>
              <a:spcBef>
                <a:spcPts val="0"/>
              </a:spcBef>
              <a:spcAft>
                <a:spcPts val="0"/>
              </a:spcAft>
              <a:buClrTx/>
              <a:buSzTx/>
              <a:buFont typeface="+mj-lt"/>
              <a:buNone/>
            </a:pPr>
            <a:r>
              <a:rPr lang="en-US" altLang="zh-CN" b="1" dirty="0">
                <a:sym typeface="+mn-ea"/>
              </a:rPr>
              <a:t>6</a:t>
            </a:r>
            <a:r>
              <a:rPr lang="zh-CN" altLang="en-US" b="1" dirty="0">
                <a:sym typeface="+mn-ea"/>
              </a:rPr>
              <a:t>.坚持个人理想与社会理想的有机结合（P6</a:t>
            </a:r>
            <a:r>
              <a:rPr lang="en-US" altLang="zh-CN" b="1" dirty="0">
                <a:sym typeface="+mn-ea"/>
              </a:rPr>
              <a:t>4</a:t>
            </a:r>
            <a:r>
              <a:rPr lang="zh-CN" altLang="en-US" b="1" dirty="0">
                <a:sym typeface="+mn-ea"/>
              </a:rPr>
              <a:t>—6</a:t>
            </a:r>
            <a:r>
              <a:rPr lang="en-US" altLang="zh-CN" b="1" dirty="0">
                <a:sym typeface="+mn-ea"/>
              </a:rPr>
              <a:t>6</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r>
              <a:rPr lang="en-US" altLang="zh-CN" b="1" dirty="0">
                <a:sym typeface="+mn-ea"/>
              </a:rPr>
              <a:t>7.</a:t>
            </a:r>
            <a:r>
              <a:rPr lang="zh-CN" altLang="en-US" b="1" dirty="0">
                <a:sym typeface="+mn-ea"/>
              </a:rPr>
              <a:t>为实现中国梦注入青春能量（</a:t>
            </a:r>
            <a:r>
              <a:rPr lang="en-US" altLang="zh-CN" b="1" dirty="0">
                <a:sym typeface="+mn-ea"/>
              </a:rPr>
              <a:t>P66-67</a:t>
            </a:r>
            <a:r>
              <a:rPr lang="zh-CN" altLang="en-US" b="1" dirty="0">
                <a:sym typeface="+mn-ea"/>
              </a:rPr>
              <a:t>）</a:t>
            </a:r>
            <a:endParaRPr lang="zh-CN" altLang="en-US" b="1" dirty="0">
              <a:sym typeface="+mn-ea"/>
            </a:endParaRPr>
          </a:p>
          <a:p>
            <a:pPr marL="0" indent="0">
              <a:buFont typeface="+mj-lt"/>
              <a:buNone/>
            </a:pPr>
            <a:endParaRPr lang="zh-CN" altLang="en-US" b="1" dirty="0">
              <a:solidFill>
                <a:srgbClr val="FF0000"/>
              </a:solidFill>
              <a:sym typeface="+mn-ea"/>
            </a:endParaRPr>
          </a:p>
        </p:txBody>
      </p:sp>
      <p:pic>
        <p:nvPicPr>
          <p:cNvPr id="4" name="图片 3" descr="GIF-267"/>
          <p:cNvPicPr>
            <a:picLocks noChangeAspect="1"/>
          </p:cNvPicPr>
          <p:nvPr/>
        </p:nvPicPr>
        <p:blipFill>
          <a:blip r:embed="rId1"/>
          <a:stretch>
            <a:fillRect/>
          </a:stretch>
        </p:blipFill>
        <p:spPr>
          <a:xfrm>
            <a:off x="160020" y="608965"/>
            <a:ext cx="1229995" cy="800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53540" y="650875"/>
            <a:ext cx="9686925" cy="969010"/>
          </a:xfrm>
        </p:spPr>
        <p:txBody>
          <a:bodyPr>
            <a:normAutofit fontScale="90000"/>
          </a:bodyPr>
          <a:lstStyle/>
          <a:p>
            <a:r>
              <a:rPr lang="zh-CN" altLang="en-US" sz="4890">
                <a:solidFill>
                  <a:srgbClr val="FF0000"/>
                </a:solidFill>
                <a:latin typeface="黑体" panose="02010609060101010101" charset="-122"/>
                <a:ea typeface="黑体" panose="02010609060101010101" charset="-122"/>
              </a:rPr>
              <a:t>第三章  继承优良传统 弘扬中国精神</a:t>
            </a:r>
            <a:endParaRPr lang="zh-CN" altLang="en-US" sz="4890">
              <a:solidFill>
                <a:srgbClr val="FF0000"/>
              </a:solidFill>
              <a:latin typeface="黑体" panose="02010609060101010101" charset="-122"/>
              <a:ea typeface="黑体" panose="02010609060101010101" charset="-122"/>
            </a:endParaRPr>
          </a:p>
        </p:txBody>
      </p:sp>
      <p:sp>
        <p:nvSpPr>
          <p:cNvPr id="3" name="内容占位符 2"/>
          <p:cNvSpPr>
            <a:spLocks noGrp="1"/>
          </p:cNvSpPr>
          <p:nvPr>
            <p:ph idx="1"/>
          </p:nvPr>
        </p:nvSpPr>
        <p:spPr>
          <a:xfrm>
            <a:off x="1653540" y="1950085"/>
            <a:ext cx="9810750" cy="4351655"/>
          </a:xfrm>
        </p:spPr>
        <p:txBody>
          <a:bodyPr/>
          <a:lstStyle/>
          <a:p>
            <a:pPr marL="0" algn="l">
              <a:lnSpc>
                <a:spcPts val="4500"/>
              </a:lnSpc>
              <a:spcBef>
                <a:spcPts val="0"/>
              </a:spcBef>
              <a:spcAft>
                <a:spcPts val="0"/>
              </a:spcAft>
              <a:buClrTx/>
              <a:buSzTx/>
              <a:buFont typeface="+mj-lt"/>
              <a:buNone/>
            </a:pPr>
            <a:r>
              <a:rPr lang="en-US" altLang="zh-CN" b="1" dirty="0">
                <a:sym typeface="+mn-ea"/>
              </a:rPr>
              <a:t>1.</a:t>
            </a:r>
            <a:r>
              <a:rPr lang="zh-CN" altLang="en-US" b="1" dirty="0">
                <a:sym typeface="+mn-ea"/>
              </a:rPr>
              <a:t>崇尚精神是中华民族的优秀传统（</a:t>
            </a:r>
            <a:r>
              <a:rPr lang="en-US" altLang="zh-CN" b="1" dirty="0">
                <a:sym typeface="+mn-ea"/>
              </a:rPr>
              <a:t>P71-72</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r>
              <a:rPr lang="en-US" altLang="zh-CN" b="1" dirty="0">
                <a:sym typeface="+mn-ea"/>
              </a:rPr>
              <a:t>2.</a:t>
            </a:r>
            <a:r>
              <a:rPr lang="zh-CN" altLang="en-US" b="1" dirty="0">
                <a:sym typeface="+mn-ea"/>
              </a:rPr>
              <a:t>中国精神的丰富内涵（P</a:t>
            </a:r>
            <a:r>
              <a:rPr lang="en-US" altLang="zh-CN" b="1" dirty="0">
                <a:sym typeface="+mn-ea"/>
              </a:rPr>
              <a:t>72-</a:t>
            </a:r>
            <a:r>
              <a:rPr lang="zh-CN" altLang="en-US" b="1" dirty="0">
                <a:sym typeface="+mn-ea"/>
              </a:rPr>
              <a:t>7</a:t>
            </a:r>
            <a:r>
              <a:rPr lang="en-US" altLang="zh-CN" b="1" dirty="0">
                <a:sym typeface="+mn-ea"/>
              </a:rPr>
              <a:t>5</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r>
              <a:rPr lang="en-US" altLang="zh-CN" b="1" dirty="0">
                <a:sym typeface="+mn-ea"/>
              </a:rPr>
              <a:t>3.</a:t>
            </a:r>
            <a:r>
              <a:rPr lang="zh-CN" altLang="en-US" b="1" dirty="0">
                <a:sym typeface="+mn-ea"/>
              </a:rPr>
              <a:t>伟大建党精神是中国共产党的精神之源（P7</a:t>
            </a:r>
            <a:r>
              <a:rPr lang="en-US" altLang="zh-CN" b="1" dirty="0">
                <a:sym typeface="+mn-ea"/>
              </a:rPr>
              <a:t>5</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r>
              <a:rPr lang="en-US" altLang="zh-CN" b="1" dirty="0">
                <a:sym typeface="+mn-ea"/>
              </a:rPr>
              <a:t>4.</a:t>
            </a:r>
            <a:r>
              <a:rPr lang="zh-CN" altLang="en-US" b="1" dirty="0">
                <a:sym typeface="+mn-ea"/>
              </a:rPr>
              <a:t>实现中国梦必须弘扬中国精神（</a:t>
            </a:r>
            <a:r>
              <a:rPr lang="en-US" altLang="zh-CN" b="1" dirty="0">
                <a:sym typeface="+mn-ea"/>
              </a:rPr>
              <a:t>P78-79</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r>
              <a:rPr lang="en-US" altLang="zh-CN" b="1" dirty="0">
                <a:sym typeface="+mn-ea"/>
              </a:rPr>
              <a:t>5.</a:t>
            </a:r>
            <a:r>
              <a:rPr lang="zh-CN" altLang="en-US" b="1" dirty="0">
                <a:sym typeface="+mn-ea"/>
              </a:rPr>
              <a:t>做新时代的忠诚爱国者（</a:t>
            </a:r>
            <a:r>
              <a:rPr lang="en-US" altLang="zh-CN" b="1" dirty="0">
                <a:sym typeface="+mn-ea"/>
              </a:rPr>
              <a:t>P82-96</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r>
              <a:rPr lang="en-US" altLang="zh-CN" b="1" dirty="0">
                <a:sym typeface="+mn-ea"/>
              </a:rPr>
              <a:t>6.</a:t>
            </a:r>
            <a:r>
              <a:rPr lang="zh-CN" altLang="en-US" b="1" dirty="0">
                <a:sym typeface="+mn-ea"/>
              </a:rPr>
              <a:t>改革开放是当代中国的显著特征（</a:t>
            </a:r>
            <a:r>
              <a:rPr lang="en-US" altLang="zh-CN" b="1" dirty="0">
                <a:sym typeface="+mn-ea"/>
              </a:rPr>
              <a:t>P97-98</a:t>
            </a:r>
            <a:r>
              <a:rPr lang="zh-CN" altLang="en-US" b="1" dirty="0">
                <a:sym typeface="+mn-ea"/>
              </a:rPr>
              <a:t>）</a:t>
            </a:r>
            <a:endParaRPr lang="en-US" altLang="zh-CN" b="1" dirty="0">
              <a:sym typeface="+mn-ea"/>
            </a:endParaRPr>
          </a:p>
          <a:p>
            <a:pPr marL="0">
              <a:lnSpc>
                <a:spcPts val="4500"/>
              </a:lnSpc>
              <a:spcBef>
                <a:spcPts val="0"/>
              </a:spcBef>
              <a:buNone/>
            </a:pPr>
            <a:r>
              <a:rPr lang="en-US" altLang="zh-CN" b="1" dirty="0">
                <a:sym typeface="+mn-ea"/>
              </a:rPr>
              <a:t>7.</a:t>
            </a:r>
            <a:r>
              <a:rPr lang="zh-CN" altLang="en-US" b="1" dirty="0">
                <a:sym typeface="+mn-ea"/>
              </a:rPr>
              <a:t>改革创新是新时代的迫切要求（</a:t>
            </a:r>
            <a:r>
              <a:rPr lang="en-US" altLang="zh-CN" b="1" dirty="0">
                <a:sym typeface="+mn-ea"/>
              </a:rPr>
              <a:t>P98-101</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endParaRPr lang="zh-CN" altLang="en-US" b="1" dirty="0">
              <a:sym typeface="+mn-ea"/>
            </a:endParaRPr>
          </a:p>
        </p:txBody>
      </p:sp>
      <p:pic>
        <p:nvPicPr>
          <p:cNvPr id="4" name="图片 3" descr="GIF-267"/>
          <p:cNvPicPr>
            <a:picLocks noChangeAspect="1"/>
          </p:cNvPicPr>
          <p:nvPr/>
        </p:nvPicPr>
        <p:blipFill>
          <a:blip r:embed="rId1"/>
          <a:stretch>
            <a:fillRect/>
          </a:stretch>
        </p:blipFill>
        <p:spPr>
          <a:xfrm>
            <a:off x="423545" y="650875"/>
            <a:ext cx="1229995" cy="800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64590" y="673100"/>
            <a:ext cx="10515600" cy="969010"/>
          </a:xfrm>
        </p:spPr>
        <p:txBody>
          <a:bodyPr/>
          <a:lstStyle/>
          <a:p>
            <a:r>
              <a:rPr lang="zh-CN" altLang="en-US">
                <a:solidFill>
                  <a:srgbClr val="FF0000"/>
                </a:solidFill>
                <a:latin typeface="黑体" panose="02010609060101010101" charset="-122"/>
                <a:ea typeface="黑体" panose="02010609060101010101" charset="-122"/>
              </a:rPr>
              <a:t>第四章</a:t>
            </a:r>
            <a:r>
              <a:rPr lang="zh-CN" altLang="en-US">
                <a:solidFill>
                  <a:srgbClr val="FF0000"/>
                </a:solidFill>
                <a:latin typeface="黑体" panose="02010609060101010101" charset="-122"/>
                <a:ea typeface="黑体" panose="02010609060101010101" charset="-122"/>
              </a:rPr>
              <a:t>  明确价值要求</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践行价值准则</a:t>
            </a:r>
            <a:endParaRPr lang="zh-CN" altLang="en-US">
              <a:solidFill>
                <a:srgbClr val="FF0000"/>
              </a:solidFill>
              <a:latin typeface="黑体" panose="02010609060101010101" charset="-122"/>
              <a:ea typeface="黑体" panose="02010609060101010101" charset="-122"/>
            </a:endParaRPr>
          </a:p>
        </p:txBody>
      </p:sp>
      <p:sp>
        <p:nvSpPr>
          <p:cNvPr id="3" name="内容占位符 2"/>
          <p:cNvSpPr>
            <a:spLocks noGrp="1"/>
          </p:cNvSpPr>
          <p:nvPr>
            <p:ph idx="1"/>
          </p:nvPr>
        </p:nvSpPr>
        <p:spPr>
          <a:xfrm>
            <a:off x="1595755" y="2150110"/>
            <a:ext cx="9653270" cy="5367655"/>
          </a:xfrm>
        </p:spPr>
        <p:txBody>
          <a:bodyPr>
            <a:normAutofit/>
          </a:bodyPr>
          <a:lstStyle/>
          <a:p>
            <a:pPr marL="0" algn="l">
              <a:lnSpc>
                <a:spcPts val="4500"/>
              </a:lnSpc>
              <a:spcBef>
                <a:spcPts val="0"/>
              </a:spcBef>
              <a:spcAft>
                <a:spcPts val="0"/>
              </a:spcAft>
              <a:buClrTx/>
              <a:buSzTx/>
              <a:buFont typeface="+mj-lt"/>
              <a:buNone/>
            </a:pPr>
            <a:r>
              <a:rPr lang="zh-CN" altLang="en-US" b="1" dirty="0">
                <a:sym typeface="+mn-ea"/>
              </a:rPr>
              <a:t>1.社会主义核心价值观的基本内容（P11</a:t>
            </a:r>
            <a:r>
              <a:rPr lang="en-US" altLang="zh-CN" b="1" dirty="0">
                <a:sym typeface="+mn-ea"/>
              </a:rPr>
              <a:t>0</a:t>
            </a:r>
            <a:r>
              <a:rPr lang="zh-CN" altLang="en-US" b="1" dirty="0">
                <a:sym typeface="+mn-ea"/>
              </a:rPr>
              <a:t>—11</a:t>
            </a:r>
            <a:r>
              <a:rPr lang="en-US" altLang="zh-CN" b="1" dirty="0">
                <a:sym typeface="+mn-ea"/>
              </a:rPr>
              <a:t>1</a:t>
            </a:r>
            <a:r>
              <a:rPr lang="zh-CN" altLang="en-US" b="1" dirty="0">
                <a:sym typeface="+mn-ea"/>
              </a:rPr>
              <a:t>）</a:t>
            </a:r>
            <a:endParaRPr lang="zh-CN" altLang="en-US" b="1" dirty="0">
              <a:sym typeface="+mn-ea"/>
            </a:endParaRPr>
          </a:p>
          <a:p>
            <a:pPr marL="0" algn="l">
              <a:lnSpc>
                <a:spcPts val="4500"/>
              </a:lnSpc>
              <a:spcBef>
                <a:spcPts val="0"/>
              </a:spcBef>
              <a:spcAft>
                <a:spcPts val="0"/>
              </a:spcAft>
              <a:buClrTx/>
              <a:buSzTx/>
              <a:buFont typeface="+mj-lt"/>
              <a:buNone/>
            </a:pPr>
            <a:r>
              <a:rPr lang="en-US" altLang="zh-CN" b="1" dirty="0">
                <a:sym typeface="+mn-ea"/>
              </a:rPr>
              <a:t>2.</a:t>
            </a:r>
            <a:r>
              <a:rPr lang="zh-CN" altLang="en-US" b="1" dirty="0">
                <a:sym typeface="+mn-ea"/>
              </a:rPr>
              <a:t>当代中国发展进步的精神指引（</a:t>
            </a:r>
            <a:r>
              <a:rPr lang="en-US" altLang="zh-CN" b="1" dirty="0">
                <a:sym typeface="+mn-ea"/>
              </a:rPr>
              <a:t>P118—121</a:t>
            </a:r>
            <a:r>
              <a:rPr lang="zh-CN" altLang="en-US" b="1" dirty="0">
                <a:sym typeface="+mn-ea"/>
              </a:rPr>
              <a:t>）</a:t>
            </a:r>
            <a:endParaRPr lang="zh-CN" altLang="en-US" b="1" dirty="0">
              <a:sym typeface="+mn-ea"/>
            </a:endParaRPr>
          </a:p>
          <a:p>
            <a:pPr marL="0" algn="l">
              <a:lnSpc>
                <a:spcPts val="4500"/>
              </a:lnSpc>
              <a:spcBef>
                <a:spcPts val="0"/>
              </a:spcBef>
              <a:spcAft>
                <a:spcPts val="0"/>
              </a:spcAft>
              <a:buClrTx/>
              <a:buSzTx/>
              <a:buFont typeface="+mj-lt"/>
              <a:buNone/>
            </a:pPr>
            <a:r>
              <a:rPr lang="en-US" altLang="zh-CN" b="1" dirty="0">
                <a:sym typeface="+mn-ea"/>
              </a:rPr>
              <a:t>3</a:t>
            </a:r>
            <a:r>
              <a:rPr lang="zh-CN" altLang="en-US" b="1" dirty="0">
                <a:sym typeface="+mn-ea"/>
              </a:rPr>
              <a:t>.社会主义核心价值观的显著特征（P1</a:t>
            </a:r>
            <a:r>
              <a:rPr lang="en-US" altLang="zh-CN" b="1" dirty="0">
                <a:sym typeface="+mn-ea"/>
              </a:rPr>
              <a:t>22</a:t>
            </a:r>
            <a:r>
              <a:rPr lang="zh-CN" altLang="en-US" b="1" dirty="0">
                <a:sym typeface="+mn-ea"/>
              </a:rPr>
              <a:t>—1</a:t>
            </a:r>
            <a:r>
              <a:rPr lang="en-US" altLang="zh-CN" b="1" dirty="0">
                <a:sym typeface="+mn-ea"/>
              </a:rPr>
              <a:t>31</a:t>
            </a:r>
            <a:r>
              <a:rPr lang="zh-CN" altLang="en-US" b="1" dirty="0">
                <a:sym typeface="+mn-ea"/>
              </a:rPr>
              <a:t>）</a:t>
            </a:r>
            <a:endParaRPr lang="en-US" altLang="zh-CN" b="1" dirty="0">
              <a:sym typeface="+mn-ea"/>
            </a:endParaRPr>
          </a:p>
          <a:p>
            <a:pPr marL="0" algn="l">
              <a:lnSpc>
                <a:spcPts val="4500"/>
              </a:lnSpc>
              <a:spcBef>
                <a:spcPts val="0"/>
              </a:spcBef>
              <a:spcAft>
                <a:spcPts val="0"/>
              </a:spcAft>
              <a:buClrTx/>
              <a:buSzTx/>
              <a:buFont typeface="+mj-lt"/>
              <a:buNone/>
            </a:pPr>
            <a:r>
              <a:rPr lang="en-US" altLang="zh-CN" b="1" dirty="0">
                <a:sym typeface="+mn-ea"/>
              </a:rPr>
              <a:t>4</a:t>
            </a:r>
            <a:r>
              <a:rPr lang="zh-CN" altLang="en-US" b="1" dirty="0">
                <a:sym typeface="+mn-ea"/>
              </a:rPr>
              <a:t>.把社会主义核心价值观落细落小落实（P1</a:t>
            </a:r>
            <a:r>
              <a:rPr lang="en-US" altLang="zh-CN" b="1" dirty="0">
                <a:sym typeface="+mn-ea"/>
              </a:rPr>
              <a:t>34</a:t>
            </a:r>
            <a:r>
              <a:rPr lang="zh-CN" altLang="en-US" b="1" dirty="0">
                <a:sym typeface="+mn-ea"/>
              </a:rPr>
              <a:t> — </a:t>
            </a:r>
            <a:r>
              <a:rPr lang="en-US" altLang="zh-CN" b="1" dirty="0">
                <a:sym typeface="+mn-ea"/>
              </a:rPr>
              <a:t>135</a:t>
            </a:r>
            <a:r>
              <a:rPr lang="zh-CN" altLang="en-US" b="1" dirty="0">
                <a:sym typeface="+mn-ea"/>
              </a:rPr>
              <a:t>）</a:t>
            </a:r>
            <a:endParaRPr lang="zh-CN" altLang="en-US" b="1" dirty="0">
              <a:sym typeface="+mn-ea"/>
            </a:endParaRPr>
          </a:p>
          <a:p>
            <a:pPr marL="0" algn="l">
              <a:lnSpc>
                <a:spcPts val="4500"/>
              </a:lnSpc>
              <a:spcBef>
                <a:spcPts val="0"/>
              </a:spcBef>
              <a:spcAft>
                <a:spcPts val="0"/>
              </a:spcAft>
              <a:buClrTx/>
              <a:buSzTx/>
              <a:buFont typeface="+mj-lt"/>
              <a:buNone/>
            </a:pPr>
            <a:endParaRPr lang="zh-CN" altLang="en-US" b="1" dirty="0">
              <a:sym typeface="+mn-ea"/>
            </a:endParaRPr>
          </a:p>
        </p:txBody>
      </p:sp>
      <p:pic>
        <p:nvPicPr>
          <p:cNvPr id="4" name="图片 3" descr="GIF-267"/>
          <p:cNvPicPr>
            <a:picLocks noChangeAspect="1"/>
          </p:cNvPicPr>
          <p:nvPr/>
        </p:nvPicPr>
        <p:blipFill>
          <a:blip r:embed="rId1"/>
          <a:stretch>
            <a:fillRect/>
          </a:stretch>
        </p:blipFill>
        <p:spPr>
          <a:xfrm>
            <a:off x="263525" y="673100"/>
            <a:ext cx="1087755" cy="8001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13410"/>
            <a:ext cx="10515600" cy="969010"/>
          </a:xfrm>
        </p:spPr>
        <p:txBody>
          <a:bodyPr/>
          <a:lstStyle/>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第五章</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遵守道德规范</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锤炼道德品格</a:t>
            </a:r>
            <a:endParaRPr lang="zh-CN" altLang="en-US">
              <a:solidFill>
                <a:srgbClr val="FF0000"/>
              </a:solidFill>
              <a:latin typeface="黑体" panose="02010609060101010101" charset="-122"/>
              <a:ea typeface="黑体" panose="02010609060101010101" charset="-122"/>
            </a:endParaRPr>
          </a:p>
        </p:txBody>
      </p:sp>
      <p:sp>
        <p:nvSpPr>
          <p:cNvPr id="3" name="内容占位符 2"/>
          <p:cNvSpPr>
            <a:spLocks noGrp="1"/>
          </p:cNvSpPr>
          <p:nvPr>
            <p:ph idx="1"/>
          </p:nvPr>
        </p:nvSpPr>
        <p:spPr>
          <a:xfrm>
            <a:off x="1452245" y="1209040"/>
            <a:ext cx="10340340" cy="4575810"/>
          </a:xfrm>
        </p:spPr>
        <p:txBody>
          <a:bodyPr>
            <a:noAutofit/>
          </a:bodyPr>
          <a:lstStyle/>
          <a:p>
            <a:pPr marL="0" algn="l" fontAlgn="auto">
              <a:lnSpc>
                <a:spcPts val="4500"/>
              </a:lnSpc>
              <a:spcBef>
                <a:spcPts val="0"/>
              </a:spcBef>
              <a:spcAft>
                <a:spcPts val="0"/>
              </a:spcAft>
              <a:buClrTx/>
              <a:buSzTx/>
              <a:buFont typeface="+mj-lt"/>
              <a:buNone/>
            </a:pPr>
            <a:endParaRPr lang="zh-CN" altLang="en-US" sz="3200" b="1" dirty="0">
              <a:solidFill>
                <a:schemeClr val="tx1"/>
              </a:solidFill>
            </a:endParaRPr>
          </a:p>
          <a:p>
            <a:pPr marL="0" algn="l" fontAlgn="auto">
              <a:lnSpc>
                <a:spcPts val="4500"/>
              </a:lnSpc>
              <a:spcBef>
                <a:spcPts val="0"/>
              </a:spcBef>
              <a:spcAft>
                <a:spcPts val="0"/>
              </a:spcAft>
              <a:buClrTx/>
              <a:buSzTx/>
              <a:buFont typeface="+mj-lt"/>
              <a:buNone/>
            </a:pPr>
            <a:r>
              <a:rPr lang="zh-CN" altLang="en-US" sz="3200" b="1" dirty="0">
                <a:solidFill>
                  <a:schemeClr val="tx1"/>
                </a:solidFill>
              </a:rPr>
              <a:t>1. 道德的起源与本质（</a:t>
            </a:r>
            <a:r>
              <a:rPr lang="en-US" altLang="zh-CN" sz="3200" b="1" dirty="0">
                <a:solidFill>
                  <a:schemeClr val="tx1"/>
                </a:solidFill>
              </a:rPr>
              <a:t>P139—142</a:t>
            </a:r>
            <a:r>
              <a:rPr lang="zh-CN" altLang="en-US" sz="3200" b="1" dirty="0">
                <a:solidFill>
                  <a:schemeClr val="tx1"/>
                </a:solidFill>
              </a:rPr>
              <a:t>）</a:t>
            </a:r>
            <a:endParaRPr lang="zh-CN" altLang="en-US" sz="3200" b="1" dirty="0">
              <a:solidFill>
                <a:schemeClr val="tx1"/>
              </a:solidFill>
            </a:endParaRPr>
          </a:p>
          <a:p>
            <a:pPr marL="0" algn="l" fontAlgn="auto">
              <a:lnSpc>
                <a:spcPts val="4500"/>
              </a:lnSpc>
              <a:spcBef>
                <a:spcPts val="0"/>
              </a:spcBef>
              <a:spcAft>
                <a:spcPts val="0"/>
              </a:spcAft>
              <a:buClrTx/>
              <a:buSzTx/>
              <a:buFont typeface="+mj-lt"/>
              <a:buNone/>
            </a:pPr>
            <a:r>
              <a:rPr lang="en-US" altLang="zh-CN" sz="3200" b="1" dirty="0">
                <a:solidFill>
                  <a:schemeClr val="tx1"/>
                </a:solidFill>
              </a:rPr>
              <a:t>2.</a:t>
            </a:r>
            <a:r>
              <a:rPr lang="zh-CN" altLang="en-US" sz="3200" b="1" dirty="0">
                <a:solidFill>
                  <a:schemeClr val="tx1"/>
                </a:solidFill>
              </a:rPr>
              <a:t>道德的功能（P1</a:t>
            </a:r>
            <a:r>
              <a:rPr lang="en-US" altLang="zh-CN" sz="3200" b="1" dirty="0">
                <a:solidFill>
                  <a:schemeClr val="tx1"/>
                </a:solidFill>
              </a:rPr>
              <a:t>42</a:t>
            </a:r>
            <a:r>
              <a:rPr lang="zh-CN" altLang="en-US" sz="3200" b="1" dirty="0">
                <a:solidFill>
                  <a:schemeClr val="tx1"/>
                </a:solidFill>
              </a:rPr>
              <a:t>—1</a:t>
            </a:r>
            <a:r>
              <a:rPr lang="en-US" altLang="zh-CN" sz="3200" b="1" dirty="0">
                <a:solidFill>
                  <a:schemeClr val="tx1"/>
                </a:solidFill>
              </a:rPr>
              <a:t>43</a:t>
            </a:r>
            <a:r>
              <a:rPr lang="zh-CN" altLang="en-US" sz="3200" b="1" dirty="0">
                <a:solidFill>
                  <a:schemeClr val="tx1"/>
                </a:solidFill>
              </a:rPr>
              <a:t>）</a:t>
            </a:r>
            <a:endParaRPr lang="zh-CN" altLang="en-US" sz="3200" b="1" dirty="0">
              <a:solidFill>
                <a:schemeClr val="tx1"/>
              </a:solidFill>
            </a:endParaRPr>
          </a:p>
          <a:p>
            <a:pPr marL="0" algn="l" fontAlgn="auto">
              <a:lnSpc>
                <a:spcPts val="4500"/>
              </a:lnSpc>
              <a:spcBef>
                <a:spcPts val="0"/>
              </a:spcBef>
              <a:spcAft>
                <a:spcPts val="0"/>
              </a:spcAft>
              <a:buClrTx/>
              <a:buSzTx/>
              <a:buFont typeface="+mj-lt"/>
              <a:buNone/>
            </a:pPr>
            <a:r>
              <a:rPr lang="en-US" altLang="zh-CN" b="1" dirty="0">
                <a:sym typeface="+mn-ea"/>
              </a:rPr>
              <a:t>3.</a:t>
            </a:r>
            <a:r>
              <a:rPr lang="zh-CN" altLang="en-US" b="1" dirty="0">
                <a:sym typeface="+mn-ea"/>
              </a:rPr>
              <a:t>社会主义道德的核心与原则（P1</a:t>
            </a:r>
            <a:r>
              <a:rPr lang="en-US" altLang="zh-CN" b="1" dirty="0">
                <a:sym typeface="+mn-ea"/>
              </a:rPr>
              <a:t>46-152</a:t>
            </a:r>
            <a:r>
              <a:rPr lang="zh-CN" altLang="en-US" b="1" dirty="0">
                <a:sym typeface="+mn-ea"/>
              </a:rPr>
              <a:t>）</a:t>
            </a:r>
            <a:endParaRPr lang="en-US" altLang="zh-CN" b="1" dirty="0">
              <a:sym typeface="+mn-ea"/>
            </a:endParaRPr>
          </a:p>
          <a:p>
            <a:pPr marL="0">
              <a:lnSpc>
                <a:spcPts val="4500"/>
              </a:lnSpc>
              <a:spcBef>
                <a:spcPts val="0"/>
              </a:spcBef>
              <a:buNone/>
            </a:pPr>
            <a:r>
              <a:rPr lang="en-US" altLang="zh-CN" b="1" dirty="0">
                <a:sym typeface="+mn-ea"/>
              </a:rPr>
              <a:t>4.</a:t>
            </a:r>
            <a:r>
              <a:rPr lang="zh-CN" altLang="en-US" b="1" dirty="0">
                <a:sym typeface="+mn-ea"/>
              </a:rPr>
              <a:t>中华传统美德的基本精神（</a:t>
            </a:r>
            <a:r>
              <a:rPr lang="en-US" altLang="zh-CN" b="1" dirty="0">
                <a:sym typeface="+mn-ea"/>
              </a:rPr>
              <a:t>P152-156</a:t>
            </a:r>
            <a:r>
              <a:rPr lang="zh-CN" altLang="en-US" b="1" dirty="0">
                <a:sym typeface="+mn-ea"/>
              </a:rPr>
              <a:t>）</a:t>
            </a:r>
            <a:endParaRPr lang="en-US" altLang="zh-CN" b="1" dirty="0">
              <a:sym typeface="+mn-ea"/>
            </a:endParaRPr>
          </a:p>
          <a:p>
            <a:pPr marL="0" algn="l" fontAlgn="auto">
              <a:lnSpc>
                <a:spcPts val="4500"/>
              </a:lnSpc>
              <a:spcBef>
                <a:spcPts val="0"/>
              </a:spcBef>
              <a:spcAft>
                <a:spcPts val="0"/>
              </a:spcAft>
              <a:buClrTx/>
              <a:buSzTx/>
              <a:buFont typeface="+mj-lt"/>
              <a:buNone/>
            </a:pPr>
            <a:r>
              <a:rPr lang="en-US" altLang="zh-CN" b="1" dirty="0">
                <a:sym typeface="+mn-ea"/>
              </a:rPr>
              <a:t>5.</a:t>
            </a:r>
            <a:r>
              <a:rPr lang="zh-CN" altLang="en-US" b="1" dirty="0">
                <a:sym typeface="+mn-ea"/>
              </a:rPr>
              <a:t>中华传统美德的创造性转化和创新性发展（</a:t>
            </a:r>
            <a:r>
              <a:rPr lang="en-US" altLang="zh-CN" b="1" dirty="0">
                <a:sym typeface="+mn-ea"/>
              </a:rPr>
              <a:t>P156-157</a:t>
            </a:r>
            <a:r>
              <a:rPr lang="zh-CN" altLang="en-US" b="1" dirty="0">
                <a:sym typeface="+mn-ea"/>
              </a:rPr>
              <a:t>）</a:t>
            </a:r>
            <a:endParaRPr lang="zh-CN" altLang="en-US" b="1" dirty="0">
              <a:solidFill>
                <a:schemeClr val="tx1"/>
              </a:solidFill>
            </a:endParaRPr>
          </a:p>
          <a:p>
            <a:pPr marL="0" algn="l" fontAlgn="auto">
              <a:lnSpc>
                <a:spcPts val="4500"/>
              </a:lnSpc>
              <a:spcBef>
                <a:spcPts val="0"/>
              </a:spcBef>
              <a:spcAft>
                <a:spcPts val="0"/>
              </a:spcAft>
              <a:buClrTx/>
              <a:buSzTx/>
              <a:buFont typeface="+mj-lt"/>
              <a:buNone/>
            </a:pPr>
            <a:endParaRPr lang="zh-CN" altLang="en-US" sz="3200" b="1" dirty="0">
              <a:solidFill>
                <a:schemeClr val="tx1"/>
              </a:solidFill>
            </a:endParaRPr>
          </a:p>
          <a:p>
            <a:pPr marL="0" algn="l" fontAlgn="auto">
              <a:lnSpc>
                <a:spcPts val="4500"/>
              </a:lnSpc>
              <a:spcBef>
                <a:spcPts val="0"/>
              </a:spcBef>
              <a:spcAft>
                <a:spcPts val="0"/>
              </a:spcAft>
              <a:buClrTx/>
              <a:buSzTx/>
              <a:buFont typeface="+mj-lt"/>
              <a:buNone/>
            </a:pPr>
            <a:endParaRPr lang="zh-CN" altLang="en-US" sz="3200" b="1" dirty="0">
              <a:solidFill>
                <a:schemeClr val="tx1"/>
              </a:solidFill>
            </a:endParaRPr>
          </a:p>
        </p:txBody>
      </p:sp>
      <p:pic>
        <p:nvPicPr>
          <p:cNvPr id="4" name="图片 3" descr="GIF-267"/>
          <p:cNvPicPr>
            <a:picLocks noChangeAspect="1"/>
          </p:cNvPicPr>
          <p:nvPr/>
        </p:nvPicPr>
        <p:blipFill>
          <a:blip r:embed="rId1"/>
          <a:stretch>
            <a:fillRect/>
          </a:stretch>
        </p:blipFill>
        <p:spPr>
          <a:xfrm>
            <a:off x="84455" y="613410"/>
            <a:ext cx="1087755" cy="800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13410"/>
            <a:ext cx="10515600" cy="969010"/>
          </a:xfrm>
        </p:spPr>
        <p:txBody>
          <a:bodyPr/>
          <a:lstStyle/>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第五章</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遵守道德规范</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锤炼道德品格</a:t>
            </a:r>
            <a:endParaRPr lang="zh-CN" altLang="en-US">
              <a:solidFill>
                <a:srgbClr val="FF0000"/>
              </a:solidFill>
              <a:latin typeface="黑体" panose="02010609060101010101" charset="-122"/>
              <a:ea typeface="黑体" panose="02010609060101010101" charset="-122"/>
            </a:endParaRPr>
          </a:p>
        </p:txBody>
      </p:sp>
      <p:sp>
        <p:nvSpPr>
          <p:cNvPr id="3" name="内容占位符 2"/>
          <p:cNvSpPr>
            <a:spLocks noGrp="1"/>
          </p:cNvSpPr>
          <p:nvPr>
            <p:ph idx="1"/>
          </p:nvPr>
        </p:nvSpPr>
        <p:spPr>
          <a:xfrm>
            <a:off x="1868805" y="1209040"/>
            <a:ext cx="9923973" cy="4575810"/>
          </a:xfrm>
        </p:spPr>
        <p:txBody>
          <a:bodyPr>
            <a:noAutofit/>
          </a:bodyPr>
          <a:lstStyle/>
          <a:p>
            <a:pPr marL="0" algn="l" fontAlgn="auto">
              <a:lnSpc>
                <a:spcPts val="4500"/>
              </a:lnSpc>
              <a:spcBef>
                <a:spcPts val="0"/>
              </a:spcBef>
              <a:spcAft>
                <a:spcPts val="0"/>
              </a:spcAft>
              <a:buClrTx/>
              <a:buSzTx/>
              <a:buFont typeface="+mj-lt"/>
              <a:buNone/>
            </a:pPr>
            <a:endParaRPr lang="zh-CN" altLang="en-US" sz="3200" b="1" dirty="0">
              <a:solidFill>
                <a:schemeClr val="tx1"/>
              </a:solidFill>
            </a:endParaRPr>
          </a:p>
          <a:p>
            <a:pPr marL="0">
              <a:lnSpc>
                <a:spcPts val="4500"/>
              </a:lnSpc>
              <a:spcBef>
                <a:spcPts val="0"/>
              </a:spcBef>
              <a:buNone/>
            </a:pPr>
            <a:r>
              <a:rPr lang="en-US" altLang="zh-CN" b="1" dirty="0">
                <a:sym typeface="+mn-ea"/>
              </a:rPr>
              <a:t>6.</a:t>
            </a:r>
            <a:r>
              <a:rPr lang="zh-CN" altLang="en-US" b="1" dirty="0">
                <a:sym typeface="+mn-ea"/>
              </a:rPr>
              <a:t>中国革命道德的主要内容（P1</a:t>
            </a:r>
            <a:r>
              <a:rPr lang="en-US" altLang="zh-CN" b="1" dirty="0">
                <a:sym typeface="+mn-ea"/>
              </a:rPr>
              <a:t>59</a:t>
            </a:r>
            <a:r>
              <a:rPr lang="zh-CN" altLang="en-US" b="1" dirty="0">
                <a:sym typeface="+mn-ea"/>
              </a:rPr>
              <a:t>—1</a:t>
            </a:r>
            <a:r>
              <a:rPr lang="en-US" altLang="zh-CN" b="1" dirty="0">
                <a:sym typeface="+mn-ea"/>
              </a:rPr>
              <a:t>61</a:t>
            </a:r>
            <a:r>
              <a:rPr lang="zh-CN" altLang="en-US" b="1" dirty="0">
                <a:sym typeface="+mn-ea"/>
              </a:rPr>
              <a:t>）</a:t>
            </a:r>
            <a:endParaRPr lang="en-US" altLang="zh-CN" b="1" dirty="0">
              <a:sym typeface="+mn-ea"/>
            </a:endParaRPr>
          </a:p>
          <a:p>
            <a:pPr marL="0" algn="l" fontAlgn="auto">
              <a:lnSpc>
                <a:spcPts val="4500"/>
              </a:lnSpc>
              <a:spcBef>
                <a:spcPts val="0"/>
              </a:spcBef>
              <a:spcAft>
                <a:spcPts val="0"/>
              </a:spcAft>
              <a:buClrTx/>
              <a:buSzTx/>
              <a:buFont typeface="+mj-lt"/>
              <a:buNone/>
            </a:pPr>
            <a:r>
              <a:rPr lang="en-US" altLang="zh-CN" b="1" dirty="0">
                <a:sym typeface="+mn-ea"/>
              </a:rPr>
              <a:t>7.</a:t>
            </a:r>
            <a:r>
              <a:rPr lang="zh-CN" altLang="en-US" b="1" dirty="0">
                <a:sym typeface="+mn-ea"/>
              </a:rPr>
              <a:t>中国革命道德的当代价值（P1</a:t>
            </a:r>
            <a:r>
              <a:rPr lang="en-US" altLang="zh-CN" b="1" dirty="0">
                <a:sym typeface="+mn-ea"/>
              </a:rPr>
              <a:t>62</a:t>
            </a:r>
            <a:r>
              <a:rPr lang="zh-CN" altLang="en-US" b="1" dirty="0">
                <a:sym typeface="+mn-ea"/>
              </a:rPr>
              <a:t>—1</a:t>
            </a:r>
            <a:r>
              <a:rPr lang="en-US" altLang="zh-CN" b="1" dirty="0">
                <a:sym typeface="+mn-ea"/>
              </a:rPr>
              <a:t>63</a:t>
            </a:r>
            <a:r>
              <a:rPr lang="zh-CN" altLang="en-US" b="1" dirty="0">
                <a:sym typeface="+mn-ea"/>
              </a:rPr>
              <a:t>）</a:t>
            </a:r>
            <a:endParaRPr lang="zh-CN" altLang="en-US" b="1" dirty="0">
              <a:solidFill>
                <a:schemeClr val="tx1"/>
              </a:solidFill>
            </a:endParaRPr>
          </a:p>
          <a:p>
            <a:pPr marL="0" algn="l" fontAlgn="auto">
              <a:lnSpc>
                <a:spcPts val="4500"/>
              </a:lnSpc>
              <a:spcBef>
                <a:spcPts val="0"/>
              </a:spcBef>
              <a:spcAft>
                <a:spcPts val="0"/>
              </a:spcAft>
              <a:buClrTx/>
              <a:buSzTx/>
              <a:buFont typeface="+mj-lt"/>
              <a:buNone/>
            </a:pPr>
            <a:r>
              <a:rPr lang="en-US" altLang="zh-CN" b="1" dirty="0">
                <a:sym typeface="+mn-ea"/>
              </a:rPr>
              <a:t>8.</a:t>
            </a:r>
            <a:r>
              <a:rPr lang="zh-CN" altLang="en-US" b="1" dirty="0">
                <a:sym typeface="+mn-ea"/>
              </a:rPr>
              <a:t>遵守社会公德（P16</a:t>
            </a:r>
            <a:r>
              <a:rPr lang="en-US" altLang="zh-CN" b="1" dirty="0">
                <a:sym typeface="+mn-ea"/>
              </a:rPr>
              <a:t>5—168</a:t>
            </a:r>
            <a:r>
              <a:rPr lang="zh-CN" altLang="en-US" b="1" dirty="0">
                <a:sym typeface="+mn-ea"/>
              </a:rPr>
              <a:t>）</a:t>
            </a:r>
            <a:endParaRPr lang="en-US" altLang="zh-CN" b="1" dirty="0">
              <a:sym typeface="+mn-ea"/>
            </a:endParaRPr>
          </a:p>
          <a:p>
            <a:pPr marL="0">
              <a:lnSpc>
                <a:spcPts val="4500"/>
              </a:lnSpc>
              <a:spcBef>
                <a:spcPts val="0"/>
              </a:spcBef>
              <a:buNone/>
            </a:pPr>
            <a:r>
              <a:rPr lang="en-US" altLang="zh-CN" b="1" dirty="0">
                <a:sym typeface="+mn-ea"/>
              </a:rPr>
              <a:t>9.</a:t>
            </a:r>
            <a:r>
              <a:rPr lang="zh-CN" altLang="en-US" b="1" dirty="0">
                <a:sym typeface="+mn-ea"/>
              </a:rPr>
              <a:t>掌握道德修养的正确方法（P1</a:t>
            </a:r>
            <a:r>
              <a:rPr lang="en-US" altLang="zh-CN" b="1" dirty="0">
                <a:sym typeface="+mn-ea"/>
              </a:rPr>
              <a:t>82—183</a:t>
            </a:r>
            <a:r>
              <a:rPr lang="zh-CN" altLang="en-US" b="1" dirty="0">
                <a:sym typeface="+mn-ea"/>
              </a:rPr>
              <a:t>）</a:t>
            </a:r>
            <a:endParaRPr lang="en-US" altLang="zh-CN" b="1" dirty="0">
              <a:sym typeface="+mn-ea"/>
            </a:endParaRPr>
          </a:p>
          <a:p>
            <a:pPr marL="0" algn="l" fontAlgn="auto">
              <a:lnSpc>
                <a:spcPts val="4500"/>
              </a:lnSpc>
              <a:spcBef>
                <a:spcPts val="0"/>
              </a:spcBef>
              <a:spcAft>
                <a:spcPts val="0"/>
              </a:spcAft>
              <a:buClrTx/>
              <a:buSzTx/>
              <a:buFont typeface="+mj-lt"/>
              <a:buNone/>
            </a:pPr>
            <a:endParaRPr lang="zh-CN" altLang="en-US" b="1" dirty="0">
              <a:solidFill>
                <a:schemeClr val="tx1"/>
              </a:solidFill>
            </a:endParaRPr>
          </a:p>
          <a:p>
            <a:pPr marL="0" algn="l" fontAlgn="auto">
              <a:lnSpc>
                <a:spcPts val="4500"/>
              </a:lnSpc>
              <a:spcBef>
                <a:spcPts val="0"/>
              </a:spcBef>
              <a:spcAft>
                <a:spcPts val="0"/>
              </a:spcAft>
              <a:buClrTx/>
              <a:buSzTx/>
              <a:buFont typeface="+mj-lt"/>
              <a:buNone/>
            </a:pPr>
            <a:endParaRPr lang="zh-CN" altLang="en-US" sz="3200" b="1" dirty="0">
              <a:solidFill>
                <a:schemeClr val="tx1"/>
              </a:solidFill>
            </a:endParaRPr>
          </a:p>
          <a:p>
            <a:pPr marL="0" algn="l" fontAlgn="auto">
              <a:lnSpc>
                <a:spcPts val="4500"/>
              </a:lnSpc>
              <a:spcBef>
                <a:spcPts val="0"/>
              </a:spcBef>
              <a:spcAft>
                <a:spcPts val="0"/>
              </a:spcAft>
              <a:buClrTx/>
              <a:buSzTx/>
              <a:buFont typeface="+mj-lt"/>
              <a:buNone/>
            </a:pPr>
            <a:endParaRPr lang="zh-CN" altLang="en-US" sz="3200" b="1" dirty="0">
              <a:solidFill>
                <a:schemeClr val="tx1"/>
              </a:solidFill>
            </a:endParaRPr>
          </a:p>
        </p:txBody>
      </p:sp>
      <p:pic>
        <p:nvPicPr>
          <p:cNvPr id="4" name="图片 3" descr="GIF-267"/>
          <p:cNvPicPr>
            <a:picLocks noChangeAspect="1"/>
          </p:cNvPicPr>
          <p:nvPr/>
        </p:nvPicPr>
        <p:blipFill>
          <a:blip r:embed="rId1"/>
          <a:stretch>
            <a:fillRect/>
          </a:stretch>
        </p:blipFill>
        <p:spPr>
          <a:xfrm>
            <a:off x="84455" y="613410"/>
            <a:ext cx="1087755" cy="800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2795" y="588645"/>
            <a:ext cx="10515600" cy="969010"/>
          </a:xfrm>
        </p:spPr>
        <p:txBody>
          <a:bodyPr/>
          <a:lstStyle/>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第六章</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学习法治思想</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提升法治素养</a:t>
            </a:r>
            <a:endParaRPr lang="zh-CN" altLang="en-US">
              <a:solidFill>
                <a:srgbClr val="FF0000"/>
              </a:solidFill>
              <a:latin typeface="黑体" panose="02010609060101010101" charset="-122"/>
              <a:ea typeface="黑体" panose="02010609060101010101" charset="-122"/>
            </a:endParaRPr>
          </a:p>
        </p:txBody>
      </p:sp>
      <p:sp>
        <p:nvSpPr>
          <p:cNvPr id="3" name="内容占位符 2"/>
          <p:cNvSpPr>
            <a:spLocks noGrp="1"/>
          </p:cNvSpPr>
          <p:nvPr>
            <p:ph idx="1"/>
          </p:nvPr>
        </p:nvSpPr>
        <p:spPr>
          <a:xfrm>
            <a:off x="1485900" y="2057400"/>
            <a:ext cx="9088755" cy="4651375"/>
          </a:xfrm>
        </p:spPr>
        <p:txBody>
          <a:bodyPr>
            <a:noAutofit/>
          </a:bodyPr>
          <a:lstStyle/>
          <a:p>
            <a:pPr marL="0" algn="l">
              <a:lnSpc>
                <a:spcPts val="4500"/>
              </a:lnSpc>
              <a:spcBef>
                <a:spcPts val="0"/>
              </a:spcBef>
              <a:spcAft>
                <a:spcPts val="0"/>
              </a:spcAft>
              <a:buClrTx/>
              <a:buSzTx/>
              <a:buFont typeface="+mj-lt"/>
              <a:buNone/>
            </a:pPr>
            <a:r>
              <a:rPr lang="zh-CN" altLang="en-US" sz="3200" b="1" dirty="0">
                <a:solidFill>
                  <a:schemeClr val="tx1"/>
                </a:solidFill>
              </a:rPr>
              <a:t>1. 法律的含义</a:t>
            </a:r>
            <a:r>
              <a:rPr lang="zh-CN" altLang="en-US" sz="3200" b="1" dirty="0"/>
              <a:t>（P</a:t>
            </a:r>
            <a:r>
              <a:rPr lang="en-US" altLang="zh-CN" sz="3200" b="1" dirty="0"/>
              <a:t>189</a:t>
            </a:r>
            <a:r>
              <a:rPr lang="zh-CN" altLang="en-US" sz="3200" b="1" dirty="0">
                <a:solidFill>
                  <a:schemeClr val="tx1"/>
                </a:solidFill>
              </a:rPr>
              <a:t> — </a:t>
            </a:r>
            <a:r>
              <a:rPr lang="zh-CN" altLang="en-US" sz="3200" b="1" dirty="0"/>
              <a:t>1</a:t>
            </a:r>
            <a:r>
              <a:rPr lang="en-US" altLang="zh-CN" sz="3200" b="1" dirty="0"/>
              <a:t>91</a:t>
            </a:r>
            <a:r>
              <a:rPr lang="zh-CN" altLang="en-US" sz="3200" b="1" dirty="0"/>
              <a:t>）</a:t>
            </a:r>
            <a:endParaRPr lang="zh-CN" altLang="en-US" sz="3200" b="1" dirty="0"/>
          </a:p>
          <a:p>
            <a:pPr marL="0" algn="l">
              <a:lnSpc>
                <a:spcPts val="4500"/>
              </a:lnSpc>
              <a:spcBef>
                <a:spcPts val="0"/>
              </a:spcBef>
              <a:spcAft>
                <a:spcPts val="0"/>
              </a:spcAft>
              <a:buClrTx/>
              <a:buSzTx/>
              <a:buFont typeface="+mj-lt"/>
              <a:buNone/>
            </a:pPr>
            <a:r>
              <a:rPr lang="zh-CN" altLang="en-US" sz="3200" b="1" dirty="0">
                <a:solidFill>
                  <a:schemeClr val="tx1"/>
                </a:solidFill>
              </a:rPr>
              <a:t>2.我国社会主义法律的运行（P1</a:t>
            </a:r>
            <a:r>
              <a:rPr lang="en-US" altLang="zh-CN" sz="3200" b="1" dirty="0">
                <a:solidFill>
                  <a:schemeClr val="tx1"/>
                </a:solidFill>
              </a:rPr>
              <a:t>96</a:t>
            </a:r>
            <a:r>
              <a:rPr lang="zh-CN" altLang="en-US" sz="3200" b="1" dirty="0">
                <a:solidFill>
                  <a:schemeClr val="tx1"/>
                </a:solidFill>
              </a:rPr>
              <a:t>）</a:t>
            </a:r>
            <a:endParaRPr lang="zh-CN" altLang="en-US" sz="3200" b="1" dirty="0">
              <a:solidFill>
                <a:schemeClr val="tx1"/>
              </a:solidFill>
            </a:endParaRPr>
          </a:p>
          <a:p>
            <a:pPr marL="0" algn="l">
              <a:lnSpc>
                <a:spcPts val="4500"/>
              </a:lnSpc>
              <a:spcBef>
                <a:spcPts val="0"/>
              </a:spcBef>
              <a:spcAft>
                <a:spcPts val="0"/>
              </a:spcAft>
              <a:buClrTx/>
              <a:buSzTx/>
              <a:buFont typeface="+mj-lt"/>
              <a:buNone/>
            </a:pPr>
            <a:r>
              <a:rPr lang="en-US" altLang="zh-CN" sz="3200" b="1" dirty="0">
                <a:solidFill>
                  <a:schemeClr val="tx1"/>
                </a:solidFill>
              </a:rPr>
              <a:t>3.</a:t>
            </a:r>
            <a:r>
              <a:rPr lang="zh-CN" altLang="en-US" sz="3200" b="1" dirty="0">
                <a:solidFill>
                  <a:schemeClr val="tx1"/>
                </a:solidFill>
              </a:rPr>
              <a:t>坚持中国特色社会主义法治道路必须遵循的原则（P</a:t>
            </a:r>
            <a:r>
              <a:rPr lang="en-US" altLang="zh-CN" sz="3200" b="1" dirty="0">
                <a:solidFill>
                  <a:schemeClr val="tx1"/>
                </a:solidFill>
              </a:rPr>
              <a:t>204</a:t>
            </a:r>
            <a:r>
              <a:rPr lang="zh-CN" altLang="en-US" sz="3200" b="1" dirty="0">
                <a:solidFill>
                  <a:schemeClr val="tx1"/>
                </a:solidFill>
              </a:rPr>
              <a:t>—</a:t>
            </a:r>
            <a:r>
              <a:rPr lang="en-US" altLang="zh-CN" sz="3200" b="1" dirty="0">
                <a:solidFill>
                  <a:schemeClr val="tx1"/>
                </a:solidFill>
              </a:rPr>
              <a:t>208</a:t>
            </a:r>
            <a:r>
              <a:rPr lang="zh-CN" altLang="en-US" sz="3200" b="1" dirty="0">
                <a:solidFill>
                  <a:schemeClr val="tx1"/>
                </a:solidFill>
              </a:rPr>
              <a:t>）</a:t>
            </a:r>
            <a:endParaRPr lang="en-US" altLang="zh-CN" sz="3200" b="1" dirty="0">
              <a:solidFill>
                <a:schemeClr val="tx1"/>
              </a:solidFill>
            </a:endParaRPr>
          </a:p>
          <a:p>
            <a:pPr marL="0">
              <a:lnSpc>
                <a:spcPts val="4500"/>
              </a:lnSpc>
              <a:spcBef>
                <a:spcPts val="0"/>
              </a:spcBef>
              <a:buNone/>
            </a:pPr>
            <a:r>
              <a:rPr lang="en-US" altLang="zh-CN" b="1" dirty="0"/>
              <a:t>4.</a:t>
            </a:r>
            <a:r>
              <a:rPr lang="zh-CN" altLang="en-US" b="1" dirty="0"/>
              <a:t>我国宪法的形成（</a:t>
            </a:r>
            <a:r>
              <a:rPr lang="en-US" altLang="zh-CN" b="1" dirty="0"/>
              <a:t>P218-219</a:t>
            </a:r>
            <a:r>
              <a:rPr lang="zh-CN" altLang="en-US" b="1" dirty="0"/>
              <a:t>）</a:t>
            </a:r>
            <a:endParaRPr lang="en-US" altLang="zh-CN" b="1" dirty="0"/>
          </a:p>
          <a:p>
            <a:pPr marL="0" algn="l">
              <a:lnSpc>
                <a:spcPts val="4500"/>
              </a:lnSpc>
              <a:spcBef>
                <a:spcPts val="0"/>
              </a:spcBef>
              <a:spcAft>
                <a:spcPts val="0"/>
              </a:spcAft>
              <a:buClrTx/>
              <a:buSzTx/>
              <a:buFont typeface="+mj-lt"/>
              <a:buNone/>
            </a:pPr>
            <a:r>
              <a:rPr lang="en-US" altLang="zh-CN" b="1" dirty="0">
                <a:sym typeface="+mn-ea"/>
              </a:rPr>
              <a:t>5</a:t>
            </a:r>
            <a:r>
              <a:rPr lang="zh-CN" altLang="en-US" b="1" dirty="0">
                <a:sym typeface="+mn-ea"/>
              </a:rPr>
              <a:t>.</a:t>
            </a:r>
            <a:r>
              <a:rPr lang="zh-CN" altLang="en-US" b="1" dirty="0"/>
              <a:t>我国宪法的地位和基本原则（</a:t>
            </a:r>
            <a:r>
              <a:rPr lang="en-US" altLang="zh-CN" b="1" dirty="0"/>
              <a:t>P222-226</a:t>
            </a:r>
            <a:r>
              <a:rPr lang="zh-CN" altLang="en-US" b="1" dirty="0"/>
              <a:t>）</a:t>
            </a:r>
            <a:endParaRPr lang="zh-CN" altLang="en-US" sz="3200" b="1" dirty="0">
              <a:solidFill>
                <a:schemeClr val="tx1"/>
              </a:solidFill>
            </a:endParaRPr>
          </a:p>
        </p:txBody>
      </p:sp>
      <p:pic>
        <p:nvPicPr>
          <p:cNvPr id="5" name="图片 4" descr="GIF-267"/>
          <p:cNvPicPr>
            <a:picLocks noChangeAspect="1"/>
          </p:cNvPicPr>
          <p:nvPr/>
        </p:nvPicPr>
        <p:blipFill>
          <a:blip r:embed="rId1"/>
          <a:stretch>
            <a:fillRect/>
          </a:stretch>
        </p:blipFill>
        <p:spPr>
          <a:xfrm>
            <a:off x="102870" y="588645"/>
            <a:ext cx="1229995" cy="800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2795" y="621665"/>
            <a:ext cx="10515600" cy="969010"/>
          </a:xfrm>
        </p:spPr>
        <p:txBody>
          <a:bodyPr/>
          <a:lstStyle/>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第六章</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学习法治思想</a:t>
            </a:r>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提升法治素养</a:t>
            </a:r>
            <a:endParaRPr lang="zh-CN" altLang="en-US">
              <a:solidFill>
                <a:srgbClr val="FF0000"/>
              </a:solidFill>
              <a:latin typeface="黑体" panose="02010609060101010101" charset="-122"/>
              <a:ea typeface="黑体" panose="02010609060101010101" charset="-122"/>
            </a:endParaRPr>
          </a:p>
        </p:txBody>
      </p:sp>
      <p:sp>
        <p:nvSpPr>
          <p:cNvPr id="3" name="内容占位符 2"/>
          <p:cNvSpPr>
            <a:spLocks noGrp="1"/>
          </p:cNvSpPr>
          <p:nvPr>
            <p:ph idx="1"/>
          </p:nvPr>
        </p:nvSpPr>
        <p:spPr>
          <a:xfrm>
            <a:off x="1166495" y="2090420"/>
            <a:ext cx="10812145" cy="3609340"/>
          </a:xfrm>
        </p:spPr>
        <p:txBody>
          <a:bodyPr>
            <a:noAutofit/>
          </a:bodyPr>
          <a:lstStyle/>
          <a:p>
            <a:pPr marL="0" algn="l">
              <a:lnSpc>
                <a:spcPts val="4500"/>
              </a:lnSpc>
              <a:spcBef>
                <a:spcPts val="0"/>
              </a:spcBef>
              <a:spcAft>
                <a:spcPts val="0"/>
              </a:spcAft>
              <a:buClrTx/>
              <a:buSzTx/>
              <a:buFont typeface="+mj-lt"/>
              <a:buNone/>
            </a:pPr>
            <a:r>
              <a:rPr lang="en-US" altLang="zh-CN" b="1" dirty="0">
                <a:sym typeface="+mn-ea"/>
              </a:rPr>
              <a:t>6</a:t>
            </a:r>
            <a:r>
              <a:rPr lang="zh-CN" altLang="en-US" b="1" dirty="0">
                <a:sym typeface="+mn-ea"/>
              </a:rPr>
              <a:t>.坚持全面推进科学立法、严格执法、公正司法、全民守法（P2</a:t>
            </a:r>
            <a:r>
              <a:rPr lang="en-US" altLang="zh-CN" b="1" dirty="0">
                <a:sym typeface="+mn-ea"/>
              </a:rPr>
              <a:t>14</a:t>
            </a:r>
            <a:r>
              <a:rPr lang="zh-CN" altLang="en-US" b="1" dirty="0">
                <a:sym typeface="+mn-ea"/>
              </a:rPr>
              <a:t>—2</a:t>
            </a:r>
            <a:r>
              <a:rPr lang="en-US" altLang="zh-CN" b="1" dirty="0">
                <a:sym typeface="+mn-ea"/>
              </a:rPr>
              <a:t>17</a:t>
            </a:r>
            <a:r>
              <a:rPr lang="zh-CN" altLang="en-US" b="1" dirty="0">
                <a:sym typeface="+mn-ea"/>
              </a:rPr>
              <a:t>）</a:t>
            </a:r>
            <a:endParaRPr lang="zh-CN" altLang="en-US" b="1" dirty="0">
              <a:solidFill>
                <a:schemeClr val="tx1"/>
              </a:solidFill>
            </a:endParaRPr>
          </a:p>
          <a:p>
            <a:pPr marL="0" algn="l">
              <a:lnSpc>
                <a:spcPts val="4500"/>
              </a:lnSpc>
              <a:spcBef>
                <a:spcPts val="0"/>
              </a:spcBef>
              <a:spcAft>
                <a:spcPts val="0"/>
              </a:spcAft>
              <a:buClrTx/>
              <a:buSzTx/>
              <a:buFont typeface="+mj-lt"/>
              <a:buNone/>
            </a:pPr>
            <a:r>
              <a:rPr lang="en-US" altLang="zh-CN" sz="3200" b="1" dirty="0">
                <a:solidFill>
                  <a:schemeClr val="tx1"/>
                </a:solidFill>
              </a:rPr>
              <a:t>7</a:t>
            </a:r>
            <a:r>
              <a:rPr lang="zh-CN" altLang="en-US" sz="3200" b="1" dirty="0">
                <a:solidFill>
                  <a:schemeClr val="tx1"/>
                </a:solidFill>
              </a:rPr>
              <a:t>.法治思维的基本内容（P2</a:t>
            </a:r>
            <a:r>
              <a:rPr lang="en-US" altLang="zh-CN" sz="3200" b="1" dirty="0">
                <a:solidFill>
                  <a:schemeClr val="tx1"/>
                </a:solidFill>
              </a:rPr>
              <a:t>3</a:t>
            </a:r>
            <a:r>
              <a:rPr lang="en-US" altLang="zh-CN" b="1" dirty="0"/>
              <a:t>1</a:t>
            </a:r>
            <a:r>
              <a:rPr lang="zh-CN" altLang="en-US" sz="3200" b="1" dirty="0">
                <a:solidFill>
                  <a:schemeClr val="tx1"/>
                </a:solidFill>
              </a:rPr>
              <a:t>—2</a:t>
            </a:r>
            <a:r>
              <a:rPr lang="en-US" altLang="zh-CN" sz="3200" b="1" dirty="0">
                <a:solidFill>
                  <a:schemeClr val="tx1"/>
                </a:solidFill>
              </a:rPr>
              <a:t>34</a:t>
            </a:r>
            <a:r>
              <a:rPr lang="zh-CN" altLang="en-US" sz="3200" b="1" dirty="0">
                <a:solidFill>
                  <a:schemeClr val="tx1"/>
                </a:solidFill>
              </a:rPr>
              <a:t>）</a:t>
            </a:r>
            <a:endParaRPr lang="en-US" altLang="zh-CN" sz="3200" b="1" dirty="0">
              <a:solidFill>
                <a:schemeClr val="tx1"/>
              </a:solidFill>
            </a:endParaRPr>
          </a:p>
          <a:p>
            <a:pPr marL="0" algn="l">
              <a:lnSpc>
                <a:spcPts val="4500"/>
              </a:lnSpc>
              <a:spcBef>
                <a:spcPts val="0"/>
              </a:spcBef>
              <a:spcAft>
                <a:spcPts val="0"/>
              </a:spcAft>
              <a:buClrTx/>
              <a:buSzTx/>
              <a:buFont typeface="+mj-lt"/>
              <a:buNone/>
            </a:pPr>
            <a:r>
              <a:rPr lang="en-US" altLang="zh-CN" b="1" dirty="0">
                <a:sym typeface="+mn-ea"/>
              </a:rPr>
              <a:t>8</a:t>
            </a:r>
            <a:r>
              <a:rPr lang="zh-CN" altLang="en-US" b="1" dirty="0">
                <a:sym typeface="+mn-ea"/>
              </a:rPr>
              <a:t>.</a:t>
            </a:r>
            <a:r>
              <a:rPr lang="zh-CN" altLang="en-US" b="1" dirty="0"/>
              <a:t>法律权利与法律义务（</a:t>
            </a:r>
            <a:r>
              <a:rPr lang="en-US" altLang="zh-CN" b="1" dirty="0"/>
              <a:t>P235-237</a:t>
            </a:r>
            <a:r>
              <a:rPr lang="zh-CN" altLang="en-US" b="1" dirty="0"/>
              <a:t>）</a:t>
            </a:r>
            <a:endParaRPr lang="zh-CN" altLang="en-US" sz="3200" b="1" dirty="0">
              <a:solidFill>
                <a:schemeClr val="tx1"/>
              </a:solidFill>
            </a:endParaRPr>
          </a:p>
          <a:p>
            <a:pPr marL="0" algn="l">
              <a:lnSpc>
                <a:spcPts val="4500"/>
              </a:lnSpc>
              <a:spcBef>
                <a:spcPts val="0"/>
              </a:spcBef>
              <a:spcAft>
                <a:spcPts val="0"/>
              </a:spcAft>
              <a:buClrTx/>
              <a:buSzTx/>
              <a:buFont typeface="+mj-lt"/>
              <a:buNone/>
            </a:pPr>
            <a:r>
              <a:rPr lang="en-US" altLang="zh-CN" b="1" dirty="0"/>
              <a:t>9</a:t>
            </a:r>
            <a:r>
              <a:rPr lang="en-US" altLang="zh-CN" sz="3200" b="1" dirty="0">
                <a:solidFill>
                  <a:schemeClr val="tx1"/>
                </a:solidFill>
              </a:rPr>
              <a:t>.</a:t>
            </a:r>
            <a:r>
              <a:rPr lang="zh-CN" altLang="en-US" sz="3200" b="1" dirty="0">
                <a:solidFill>
                  <a:schemeClr val="tx1"/>
                </a:solidFill>
              </a:rPr>
              <a:t>我国宪法法律规定的权利（P2</a:t>
            </a:r>
            <a:r>
              <a:rPr lang="en-US" altLang="zh-CN" sz="3200" b="1" dirty="0">
                <a:solidFill>
                  <a:schemeClr val="tx1"/>
                </a:solidFill>
              </a:rPr>
              <a:t>38—241</a:t>
            </a:r>
            <a:r>
              <a:rPr lang="zh-CN" altLang="en-US" sz="3200" b="1" dirty="0">
                <a:solidFill>
                  <a:schemeClr val="tx1"/>
                </a:solidFill>
              </a:rPr>
              <a:t>）</a:t>
            </a:r>
            <a:endParaRPr lang="zh-CN" altLang="en-US" sz="3200" b="1" dirty="0">
              <a:solidFill>
                <a:schemeClr val="tx1"/>
              </a:solidFill>
            </a:endParaRPr>
          </a:p>
        </p:txBody>
      </p:sp>
      <p:pic>
        <p:nvPicPr>
          <p:cNvPr id="5" name="图片 4" descr="GIF-267"/>
          <p:cNvPicPr>
            <a:picLocks noChangeAspect="1"/>
          </p:cNvPicPr>
          <p:nvPr/>
        </p:nvPicPr>
        <p:blipFill>
          <a:blip r:embed="rId1"/>
          <a:stretch>
            <a:fillRect/>
          </a:stretch>
        </p:blipFill>
        <p:spPr>
          <a:xfrm>
            <a:off x="102870" y="621665"/>
            <a:ext cx="1229995" cy="8001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21865" y="1718310"/>
            <a:ext cx="7776210" cy="2520950"/>
          </a:xfrm>
        </p:spPr>
        <p:txBody>
          <a:bodyPr vert="horz" wrap="square" lIns="91440" tIns="45720" rIns="91440" bIns="45720" numCol="1" anchor="b" anchorCtr="0" compatLnSpc="1">
            <a:normAutofit fontScale="90000"/>
          </a:bodyPr>
          <a:lstStyle/>
          <a:p>
            <a:pPr marL="0" marR="0" lvl="0" indent="0" algn="l" defTabSz="914400" rtl="0" eaLnBrk="1" fontAlgn="base" latinLnBrk="0" hangingPunct="1">
              <a:lnSpc>
                <a:spcPct val="150000"/>
              </a:lnSpc>
              <a:spcBef>
                <a:spcPct val="0"/>
              </a:spcBef>
              <a:spcAft>
                <a:spcPct val="0"/>
              </a:spcAft>
              <a:buClrTx/>
              <a:buSzTx/>
              <a:buFontTx/>
              <a:buNone/>
              <a:defRPr/>
            </a:pPr>
            <a:br>
              <a:rPr kumimoji="0" lang="en-US" altLang="zh-CN"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br>
            <a:br>
              <a:rPr kumimoji="0" lang="zh-CN" altLang="en-US"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br>
            <a:r>
              <a:rPr kumimoji="0" lang="zh-CN" altLang="en-US"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 二、考试安排及要求</a:t>
            </a:r>
            <a:br>
              <a:rPr kumimoji="0" lang="en-US" altLang="zh-CN"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br>
            <a:r>
              <a:rPr kumimoji="0" lang="en-US" altLang="zh-CN"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   </a:t>
            </a:r>
            <a:endParaRPr kumimoji="0" lang="en-US" altLang="zh-CN" sz="5335"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p:txBody>
      </p:sp>
      <p:pic>
        <p:nvPicPr>
          <p:cNvPr id="5" name="图片 4" descr="u=4198014869,597228974&amp;fm=11&amp;gp=0"/>
          <p:cNvPicPr>
            <a:picLocks noChangeAspect="1"/>
          </p:cNvPicPr>
          <p:nvPr/>
        </p:nvPicPr>
        <p:blipFill>
          <a:blip r:embed="rId1"/>
          <a:stretch>
            <a:fillRect/>
          </a:stretch>
        </p:blipFill>
        <p:spPr>
          <a:xfrm>
            <a:off x="4620895" y="4127500"/>
            <a:ext cx="2152015" cy="19399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135188" y="333375"/>
            <a:ext cx="7772400" cy="1143000"/>
          </a:xfrm>
        </p:spPr>
        <p:txBody>
          <a:bodyPr vert="horz" wrap="square" lIns="91440" tIns="45720" rIns="91440" bIns="45720" numCol="1" anchor="ctr" anchorCtr="0" compatLnSpc="1">
            <a:normAutofit/>
          </a:body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考  试  安  排</a:t>
            </a:r>
            <a:endParaRPr kumimoji="0" lang="zh-CN" altLang="en-U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p:txBody>
      </p:sp>
      <p:sp>
        <p:nvSpPr>
          <p:cNvPr id="9218" name="Rectangle 3"/>
          <p:cNvSpPr>
            <a:spLocks noGrp="1"/>
          </p:cNvSpPr>
          <p:nvPr>
            <p:ph idx="1"/>
          </p:nvPr>
        </p:nvSpPr>
        <p:spPr>
          <a:xfrm>
            <a:off x="993775" y="1625600"/>
            <a:ext cx="10781030" cy="4824095"/>
          </a:xfrm>
        </p:spPr>
        <p:txBody>
          <a:bodyPr vert="horz" wrap="square" lIns="91440" tIns="45720" rIns="91440" bIns="45720" anchor="t" anchorCtr="0">
            <a:normAutofit/>
          </a:bodyPr>
          <a:lstStyle/>
          <a:p>
            <a:pPr eaLnBrk="1" hangingPunct="1">
              <a:lnSpc>
                <a:spcPts val="4500"/>
              </a:lnSpc>
              <a:spcBef>
                <a:spcPts val="0"/>
              </a:spcBef>
              <a:spcAft>
                <a:spcPts val="0"/>
              </a:spcAft>
            </a:pPr>
            <a:r>
              <a:rPr lang="zh-CN" altLang="en-US" sz="3200" b="1" kern="1200" dirty="0">
                <a:latin typeface="+mn-lt"/>
                <a:ea typeface="+mn-ea"/>
                <a:cs typeface="+mn-cs"/>
              </a:rPr>
              <a:t>考试方式：闭卷考试</a:t>
            </a:r>
            <a:endParaRPr lang="zh-CN" altLang="en-US" sz="3200" b="1" kern="1200" dirty="0">
              <a:latin typeface="+mn-lt"/>
              <a:ea typeface="+mn-ea"/>
              <a:cs typeface="+mn-cs"/>
            </a:endParaRPr>
          </a:p>
          <a:p>
            <a:pPr eaLnBrk="1" hangingPunct="1">
              <a:lnSpc>
                <a:spcPts val="4500"/>
              </a:lnSpc>
              <a:spcBef>
                <a:spcPts val="0"/>
              </a:spcBef>
              <a:spcAft>
                <a:spcPts val="0"/>
              </a:spcAft>
            </a:pPr>
            <a:r>
              <a:rPr lang="zh-CN" altLang="en-US" sz="3200" b="1" kern="1200" dirty="0">
                <a:latin typeface="+mn-lt"/>
                <a:ea typeface="+mn-ea"/>
                <a:cs typeface="+mn-cs"/>
              </a:rPr>
              <a:t>考试时间：</a:t>
            </a:r>
            <a:r>
              <a:rPr lang="en-US" altLang="zh-CN" sz="3200" b="1" kern="1200" dirty="0">
                <a:solidFill>
                  <a:srgbClr val="FF0000"/>
                </a:solidFill>
                <a:latin typeface="+mn-lt"/>
                <a:ea typeface="+mn-ea"/>
                <a:cs typeface="+mn-cs"/>
              </a:rPr>
              <a:t>2024</a:t>
            </a:r>
            <a:r>
              <a:rPr lang="en-US" altLang="zh-CN" sz="3200" b="1" kern="1200" dirty="0">
                <a:solidFill>
                  <a:srgbClr val="FF0000"/>
                </a:solidFill>
                <a:latin typeface="Times New Roman" panose="02020603050405020304" charset="0"/>
                <a:ea typeface="+mn-ea"/>
                <a:cs typeface="Times New Roman" panose="02020603050405020304" charset="0"/>
              </a:rPr>
              <a:t>~</a:t>
            </a:r>
            <a:r>
              <a:rPr lang="en-US" altLang="zh-CN" sz="3200" b="1" kern="1200" dirty="0">
                <a:solidFill>
                  <a:srgbClr val="FF0000"/>
                </a:solidFill>
                <a:latin typeface="+mn-lt"/>
                <a:ea typeface="+mn-ea"/>
                <a:cs typeface="+mn-cs"/>
              </a:rPr>
              <a:t>2025</a:t>
            </a:r>
            <a:r>
              <a:rPr lang="zh-CN" altLang="en-US" sz="3200" b="1" kern="1200" dirty="0">
                <a:solidFill>
                  <a:srgbClr val="FF0000"/>
                </a:solidFill>
                <a:latin typeface="+mn-lt"/>
                <a:ea typeface="+mn-ea"/>
                <a:cs typeface="+mn-cs"/>
              </a:rPr>
              <a:t>学年秋季学期第</a:t>
            </a:r>
            <a:r>
              <a:rPr lang="en-US" altLang="zh-CN" sz="3200" b="1" kern="1200" dirty="0">
                <a:solidFill>
                  <a:srgbClr val="FF0000"/>
                </a:solidFill>
                <a:latin typeface="+mn-lt"/>
                <a:ea typeface="+mn-ea"/>
                <a:cs typeface="+mn-cs"/>
              </a:rPr>
              <a:t>19</a:t>
            </a:r>
            <a:r>
              <a:rPr lang="zh-CN" altLang="en-US" sz="3200" b="1" kern="1200" dirty="0">
                <a:solidFill>
                  <a:srgbClr val="FF0000"/>
                </a:solidFill>
                <a:latin typeface="+mn-lt"/>
                <a:ea typeface="+mn-ea"/>
                <a:cs typeface="+mn-cs"/>
              </a:rPr>
              <a:t>周</a:t>
            </a:r>
            <a:endParaRPr lang="zh-CN" altLang="en-US" sz="3200" b="1" kern="1200" dirty="0">
              <a:solidFill>
                <a:srgbClr val="FF0000"/>
              </a:solidFill>
              <a:latin typeface="+mn-lt"/>
              <a:ea typeface="+mn-ea"/>
              <a:cs typeface="+mn-cs"/>
            </a:endParaRPr>
          </a:p>
          <a:p>
            <a:pPr marL="0" indent="0" eaLnBrk="1" hangingPunct="1">
              <a:lnSpc>
                <a:spcPts val="4500"/>
              </a:lnSpc>
              <a:spcBef>
                <a:spcPts val="0"/>
              </a:spcBef>
              <a:spcAft>
                <a:spcPts val="0"/>
              </a:spcAft>
              <a:buNone/>
            </a:pPr>
            <a:r>
              <a:rPr lang="en-US" altLang="zh-CN" sz="3200" b="1" kern="1200" dirty="0">
                <a:solidFill>
                  <a:srgbClr val="FF0000"/>
                </a:solidFill>
                <a:latin typeface="+mn-lt"/>
                <a:ea typeface="+mn-ea"/>
                <a:cs typeface="+mn-cs"/>
              </a:rPr>
              <a:t>                            </a:t>
            </a:r>
            <a:r>
              <a:rPr lang="zh-CN" altLang="en-US" sz="3200" b="1" kern="1200" dirty="0">
                <a:solidFill>
                  <a:srgbClr val="FF0000"/>
                </a:solidFill>
                <a:latin typeface="楷体" panose="02010609060101010101" charset="-122"/>
                <a:ea typeface="楷体" panose="02010609060101010101" charset="-122"/>
                <a:cs typeface="+mn-cs"/>
              </a:rPr>
              <a:t>（</a:t>
            </a:r>
            <a:r>
              <a:rPr lang="zh-CN" altLang="en-US" b="1" dirty="0">
                <a:solidFill>
                  <a:srgbClr val="FF0000"/>
                </a:solidFill>
                <a:latin typeface="楷体" panose="02010609060101010101" charset="-122"/>
                <a:ea typeface="楷体" panose="02010609060101010101" charset="-122"/>
                <a:sym typeface="+mn-ea"/>
              </a:rPr>
              <a:t>具体哪天哪个时间段待定）</a:t>
            </a:r>
            <a:endParaRPr lang="zh-CN" altLang="en-US" sz="3200" b="1" kern="1200" dirty="0">
              <a:solidFill>
                <a:srgbClr val="FF0000"/>
              </a:solidFill>
              <a:latin typeface="楷体" panose="02010609060101010101" charset="-122"/>
              <a:ea typeface="楷体" panose="02010609060101010101" charset="-122"/>
              <a:cs typeface="+mn-cs"/>
            </a:endParaRPr>
          </a:p>
          <a:p>
            <a:pPr eaLnBrk="1" hangingPunct="1">
              <a:lnSpc>
                <a:spcPts val="4500"/>
              </a:lnSpc>
              <a:spcBef>
                <a:spcPts val="0"/>
              </a:spcBef>
              <a:spcAft>
                <a:spcPts val="0"/>
              </a:spcAft>
              <a:buFont typeface="Arial" panose="020B0604020202020204" pitchFamily="34" charset="0"/>
              <a:buNone/>
            </a:pPr>
            <a:r>
              <a:rPr lang="zh-CN" altLang="en-US" sz="3200" b="1" kern="1200" dirty="0">
                <a:solidFill>
                  <a:srgbClr val="FF0000"/>
                </a:solidFill>
                <a:latin typeface="+mn-lt"/>
                <a:ea typeface="+mn-ea"/>
                <a:cs typeface="+mn-cs"/>
              </a:rPr>
              <a:t> </a:t>
            </a:r>
            <a:r>
              <a:rPr lang="en-US" altLang="zh-CN" sz="3200" b="1" kern="1200" dirty="0">
                <a:solidFill>
                  <a:srgbClr val="FF0000"/>
                </a:solidFill>
                <a:latin typeface="+mn-lt"/>
                <a:ea typeface="+mn-ea"/>
                <a:cs typeface="+mn-cs"/>
              </a:rPr>
              <a:t>                                            </a:t>
            </a:r>
            <a:r>
              <a:rPr lang="zh-CN" altLang="en-US" sz="3200" b="1" kern="1200" dirty="0">
                <a:solidFill>
                  <a:srgbClr val="FF0000"/>
                </a:solidFill>
                <a:latin typeface="+mn-lt"/>
                <a:ea typeface="+mn-ea"/>
                <a:cs typeface="+mn-cs"/>
              </a:rPr>
              <a:t>（</a:t>
            </a:r>
            <a:r>
              <a:rPr lang="en-US" altLang="zh-CN" sz="3200" b="1" kern="1200" dirty="0">
                <a:solidFill>
                  <a:srgbClr val="FF0000"/>
                </a:solidFill>
                <a:latin typeface="+mn-lt"/>
                <a:ea typeface="+mn-ea"/>
                <a:cs typeface="+mn-cs"/>
              </a:rPr>
              <a:t>90</a:t>
            </a:r>
            <a:r>
              <a:rPr lang="zh-CN" altLang="en-US" sz="3200" b="1" kern="1200" dirty="0">
                <a:solidFill>
                  <a:srgbClr val="FF0000"/>
                </a:solidFill>
                <a:latin typeface="+mn-lt"/>
                <a:ea typeface="+mn-ea"/>
                <a:cs typeface="+mn-cs"/>
              </a:rPr>
              <a:t>分钟）</a:t>
            </a:r>
            <a:endParaRPr lang="zh-CN" altLang="en-US" sz="3200" b="1" kern="1200" dirty="0">
              <a:latin typeface="+mn-lt"/>
              <a:ea typeface="+mn-ea"/>
              <a:cs typeface="+mn-cs"/>
            </a:endParaRPr>
          </a:p>
          <a:p>
            <a:pPr eaLnBrk="1" hangingPunct="1">
              <a:lnSpc>
                <a:spcPts val="4500"/>
              </a:lnSpc>
              <a:spcBef>
                <a:spcPts val="0"/>
              </a:spcBef>
              <a:spcAft>
                <a:spcPts val="0"/>
              </a:spcAft>
            </a:pPr>
            <a:r>
              <a:rPr lang="zh-CN" altLang="en-US" sz="3200" b="1" kern="1200" dirty="0">
                <a:latin typeface="+mn-lt"/>
                <a:ea typeface="+mn-ea"/>
                <a:cs typeface="+mn-cs"/>
              </a:rPr>
              <a:t>考试地点：</a:t>
            </a:r>
            <a:r>
              <a:rPr lang="zh-CN" altLang="en-US" sz="3200" b="1" kern="1200" dirty="0">
                <a:solidFill>
                  <a:srgbClr val="FF0000"/>
                </a:solidFill>
                <a:latin typeface="+mn-lt"/>
                <a:ea typeface="+mn-ea"/>
                <a:cs typeface="+mn-cs"/>
              </a:rPr>
              <a:t>教务系统指定</a:t>
            </a:r>
            <a:r>
              <a:rPr lang="zh-CN" altLang="en-US" sz="3200" b="1" kern="1200" dirty="0">
                <a:latin typeface="+mn-lt"/>
                <a:ea typeface="+mn-ea"/>
                <a:cs typeface="+mn-cs"/>
              </a:rPr>
              <a:t>的考试地点。</a:t>
            </a:r>
            <a:endParaRPr lang="zh-CN" altLang="en-US" sz="3200" b="1" kern="1200" dirty="0">
              <a:latin typeface="+mn-lt"/>
              <a:ea typeface="+mn-ea"/>
              <a:cs typeface="+mn-cs"/>
            </a:endParaRPr>
          </a:p>
          <a:p>
            <a:pPr eaLnBrk="1" hangingPunct="1">
              <a:lnSpc>
                <a:spcPts val="4500"/>
              </a:lnSpc>
              <a:spcBef>
                <a:spcPts val="0"/>
              </a:spcBef>
              <a:spcAft>
                <a:spcPts val="0"/>
              </a:spcAft>
            </a:pPr>
            <a:endParaRPr lang="zh-CN" altLang="en-US" sz="3200" b="1" kern="1200" dirty="0">
              <a:latin typeface="+mn-lt"/>
              <a:ea typeface="+mn-ea"/>
              <a:cs typeface="+mn-cs"/>
            </a:endParaRPr>
          </a:p>
          <a:p>
            <a:pPr eaLnBrk="1" hangingPunct="1">
              <a:lnSpc>
                <a:spcPts val="4500"/>
              </a:lnSpc>
              <a:spcBef>
                <a:spcPts val="0"/>
              </a:spcBef>
              <a:spcAft>
                <a:spcPts val="0"/>
              </a:spcAft>
              <a:buFont typeface="Arial" panose="020B0604020202020204" pitchFamily="34" charset="0"/>
              <a:buNone/>
            </a:pPr>
            <a:r>
              <a:rPr lang="zh-CN" altLang="en-US" sz="3200" b="1" kern="1200" dirty="0">
                <a:latin typeface="+mn-lt"/>
                <a:ea typeface="+mn-ea"/>
                <a:cs typeface="+mn-cs"/>
              </a:rPr>
              <a:t>     </a:t>
            </a:r>
            <a:r>
              <a:rPr lang="en-US" altLang="zh-CN" sz="3200" b="1" kern="1200" dirty="0">
                <a:latin typeface="+mn-lt"/>
                <a:ea typeface="+mn-ea"/>
                <a:cs typeface="+mn-cs"/>
              </a:rPr>
              <a:t>  </a:t>
            </a:r>
            <a:r>
              <a:rPr lang="zh-CN" altLang="en-US" sz="3200" b="1" kern="1200" dirty="0">
                <a:solidFill>
                  <a:srgbClr val="FF0000"/>
                </a:solidFill>
                <a:latin typeface="+mn-lt"/>
                <a:ea typeface="+mn-ea"/>
                <a:cs typeface="+mn-cs"/>
              </a:rPr>
              <a:t>学生可在教务处网站查询个人考试安排表，也可到学生所在学院查询。</a:t>
            </a:r>
            <a:endParaRPr lang="zh-CN" altLang="en-US" sz="3200" b="1" kern="1200" dirty="0">
              <a:solidFill>
                <a:srgbClr val="FF0000"/>
              </a:solidFill>
              <a:latin typeface="+mn-lt"/>
              <a:ea typeface="+mn-ea"/>
              <a:cs typeface="+mn-cs"/>
            </a:endParaRPr>
          </a:p>
        </p:txBody>
      </p:sp>
      <p:pic>
        <p:nvPicPr>
          <p:cNvPr id="4" name="图片 3" descr="CJ3036"/>
          <p:cNvPicPr>
            <a:picLocks noChangeAspect="1"/>
          </p:cNvPicPr>
          <p:nvPr/>
        </p:nvPicPr>
        <p:blipFill>
          <a:blip r:embed="rId1"/>
          <a:stretch>
            <a:fillRect/>
          </a:stretch>
        </p:blipFill>
        <p:spPr>
          <a:xfrm>
            <a:off x="1678305" y="400685"/>
            <a:ext cx="1217930" cy="8978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内容占位符 2"/>
          <p:cNvSpPr>
            <a:spLocks noGrp="1"/>
          </p:cNvSpPr>
          <p:nvPr>
            <p:ph idx="1"/>
          </p:nvPr>
        </p:nvSpPr>
        <p:spPr>
          <a:xfrm>
            <a:off x="1188085" y="1819910"/>
            <a:ext cx="10009505" cy="4368800"/>
          </a:xfrm>
        </p:spPr>
        <p:txBody>
          <a:bodyPr vert="horz" wrap="square" lIns="91440" tIns="45720" rIns="91440" bIns="45720" anchor="t" anchorCtr="0">
            <a:normAutofit/>
          </a:bodyPr>
          <a:lstStyle/>
          <a:p>
            <a:pPr eaLnBrk="1" hangingPunct="1">
              <a:buFont typeface="Arial" panose="020B0604020202020204" pitchFamily="34" charset="0"/>
              <a:buNone/>
            </a:pPr>
            <a:r>
              <a:rPr lang="en-US" altLang="zh-CN" sz="2800" b="1" kern="1200" dirty="0">
                <a:latin typeface="+mn-lt"/>
                <a:ea typeface="+mn-ea"/>
                <a:cs typeface="+mn-cs"/>
              </a:rPr>
              <a:t>《</a:t>
            </a:r>
            <a:r>
              <a:rPr lang="zh-CN" altLang="zh-CN" sz="2800" b="1" kern="1200" dirty="0">
                <a:latin typeface="+mn-lt"/>
                <a:ea typeface="+mn-ea"/>
                <a:cs typeface="+mn-cs"/>
              </a:rPr>
              <a:t>四川大学本科生考试工作管理办法（修订）</a:t>
            </a:r>
            <a:r>
              <a:rPr lang="en-US" altLang="zh-CN" sz="2800" b="1" kern="1200" dirty="0">
                <a:latin typeface="+mn-lt"/>
                <a:ea typeface="+mn-ea"/>
                <a:cs typeface="+mn-cs"/>
              </a:rPr>
              <a:t>》</a:t>
            </a:r>
            <a:r>
              <a:rPr lang="zh-CN" altLang="en-US" sz="2800" b="1" kern="1200" dirty="0">
                <a:latin typeface="+mn-lt"/>
                <a:ea typeface="+mn-ea"/>
                <a:cs typeface="+mn-cs"/>
              </a:rPr>
              <a:t>（</a:t>
            </a:r>
            <a:r>
              <a:rPr lang="en-US" altLang="zh-CN" sz="2800" b="1" kern="1200" dirty="0">
                <a:latin typeface="+mn-lt"/>
                <a:ea typeface="+mn-ea"/>
                <a:cs typeface="+mn-cs"/>
              </a:rPr>
              <a:t>2017</a:t>
            </a:r>
            <a:r>
              <a:rPr lang="zh-CN" altLang="en-US" sz="2800" b="1" kern="1200" dirty="0">
                <a:latin typeface="+mn-lt"/>
                <a:ea typeface="+mn-ea"/>
                <a:cs typeface="+mn-cs"/>
              </a:rPr>
              <a:t>）：</a:t>
            </a:r>
            <a:endParaRPr lang="zh-CN" altLang="zh-CN" sz="2800" b="1" kern="1200" dirty="0">
              <a:latin typeface="+mn-lt"/>
              <a:ea typeface="+mn-ea"/>
              <a:cs typeface="+mn-cs"/>
            </a:endParaRPr>
          </a:p>
          <a:p>
            <a:pPr eaLnBrk="1" hangingPunct="1">
              <a:lnSpc>
                <a:spcPct val="110000"/>
              </a:lnSpc>
            </a:pPr>
            <a:r>
              <a:rPr lang="zh-CN" altLang="zh-CN" sz="2800" b="1" kern="1200" dirty="0">
                <a:latin typeface="+mn-lt"/>
                <a:ea typeface="+mn-ea"/>
                <a:cs typeface="+mn-cs"/>
              </a:rPr>
              <a:t>第三十八条　学生的考试必须严格按照《四川大学考场规则》以及学校其他相关规定进行。凡有考试违纪作弊行为的在校本科生按《四川大学本科学生考试违纪作弊处分规定（修订）》进行处理。</a:t>
            </a:r>
            <a:endParaRPr lang="zh-CN" altLang="zh-CN" sz="2800" b="1" kern="1200" dirty="0">
              <a:latin typeface="+mn-lt"/>
              <a:ea typeface="+mn-ea"/>
              <a:cs typeface="+mn-cs"/>
            </a:endParaRPr>
          </a:p>
          <a:p>
            <a:pPr eaLnBrk="1" hangingPunct="1">
              <a:lnSpc>
                <a:spcPct val="110000"/>
              </a:lnSpc>
            </a:pPr>
            <a:r>
              <a:rPr lang="zh-CN" altLang="zh-CN" sz="2800" b="1" kern="1200" dirty="0">
                <a:latin typeface="+mn-lt"/>
                <a:ea typeface="+mn-ea"/>
                <a:cs typeface="+mn-cs"/>
              </a:rPr>
              <a:t>第三十九条　受处分的学生，该门课程成绩以零分计，并取消该门课程的补考资格。</a:t>
            </a:r>
            <a:endParaRPr lang="zh-CN" altLang="zh-CN" sz="2800" b="1" kern="1200" dirty="0">
              <a:latin typeface="+mn-lt"/>
              <a:ea typeface="+mn-ea"/>
              <a:cs typeface="+mn-cs"/>
            </a:endParaRPr>
          </a:p>
          <a:p>
            <a:pPr eaLnBrk="1" hangingPunct="1">
              <a:lnSpc>
                <a:spcPct val="110000"/>
              </a:lnSpc>
              <a:buFont typeface="Arial" panose="020B0604020202020204" pitchFamily="34" charset="0"/>
              <a:buNone/>
            </a:pPr>
            <a:endParaRPr lang="zh-CN" altLang="en-US" b="1" kern="1200" dirty="0">
              <a:latin typeface="+mn-lt"/>
              <a:ea typeface="+mn-ea"/>
              <a:cs typeface="+mn-cs"/>
            </a:endParaRPr>
          </a:p>
        </p:txBody>
      </p:sp>
      <p:sp>
        <p:nvSpPr>
          <p:cNvPr id="4" name="Rectangle 2"/>
          <p:cNvSpPr>
            <a:spLocks noGrp="1" noChangeArrowheads="1"/>
          </p:cNvSpPr>
          <p:nvPr>
            <p:ph type="title"/>
          </p:nvPr>
        </p:nvSpPr>
        <p:spPr>
          <a:xfrm>
            <a:off x="2152650" y="225425"/>
            <a:ext cx="7886700" cy="1325563"/>
          </a:xfrm>
        </p:spPr>
        <p:txBody>
          <a:bodyPr vert="horz" wrap="square" lIns="91440" tIns="45720" rIns="91440" bIns="45720" numCol="1" anchor="ctr" anchorCtr="0" compatLnSpc="1">
            <a:noAutofit/>
          </a:body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考试纪律要求</a:t>
            </a:r>
            <a:r>
              <a:rPr kumimoji="0" lang="en-US" altLang="zh-CN" sz="4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       </a:t>
            </a:r>
            <a:endParaRPr kumimoji="0" lang="en-US" altLang="zh-CN" sz="4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p:txBody>
      </p:sp>
      <p:pic>
        <p:nvPicPr>
          <p:cNvPr id="2" name="图片 1" descr="CJ3036"/>
          <p:cNvPicPr>
            <a:picLocks noChangeAspect="1"/>
          </p:cNvPicPr>
          <p:nvPr/>
        </p:nvPicPr>
        <p:blipFill>
          <a:blip r:embed="rId1"/>
          <a:stretch>
            <a:fillRect/>
          </a:stretch>
        </p:blipFill>
        <p:spPr>
          <a:xfrm>
            <a:off x="1487170" y="439420"/>
            <a:ext cx="1217930" cy="8978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p:cNvSpPr>
          <p:nvPr>
            <p:ph idx="1"/>
          </p:nvPr>
        </p:nvSpPr>
        <p:spPr>
          <a:xfrm>
            <a:off x="1033145" y="1579245"/>
            <a:ext cx="10317480" cy="4878705"/>
          </a:xfrm>
        </p:spPr>
        <p:txBody>
          <a:bodyPr vert="horz" wrap="square" lIns="91440" tIns="45720" rIns="91440" bIns="45720" numCol="1" anchor="t" anchorCtr="0" compatLnSpc="1">
            <a:normAutofit lnSpcReduction="20000"/>
          </a:bodyPr>
          <a:lstStyle/>
          <a:p>
            <a:pPr marL="171450" marR="0" lvl="0" indent="-171450" algn="l" defTabSz="914400" rtl="0" eaLnBrk="1" fontAlgn="base" latinLnBrk="0" hangingPunct="1">
              <a:lnSpc>
                <a:spcPct val="110000"/>
              </a:lnSpc>
              <a:spcBef>
                <a:spcPts val="750"/>
              </a:spcBef>
              <a:spcAft>
                <a:spcPct val="0"/>
              </a:spcAft>
              <a:buClrTx/>
              <a:buSzTx/>
              <a:buFont typeface="Arial" panose="020B0604020202020204" pitchFamily="34" charset="0"/>
              <a:buNone/>
              <a:defRPr/>
            </a:pPr>
            <a:r>
              <a:rPr kumimoji="0" lang="en-US" altLang="zh-CN" sz="3200" b="1" i="0" u="none" strike="noStrike" kern="1200" cap="none" spc="0" normalizeH="0" baseline="0" noProof="1">
                <a:ln>
                  <a:noFill/>
                </a:ln>
                <a:solidFill>
                  <a:schemeClr val="tx1"/>
                </a:solidFill>
                <a:effectLst/>
                <a:uLnTx/>
                <a:uFillTx/>
                <a:latin typeface="+mn-lt"/>
                <a:ea typeface="+mn-ea"/>
                <a:cs typeface="+mn-cs"/>
              </a:rPr>
              <a:t>1.</a:t>
            </a:r>
            <a:r>
              <a:rPr kumimoji="0" lang="zh-CN" altLang="en-US" sz="3200" b="1" i="0" u="none" strike="noStrike" kern="1200" cap="none" spc="0" normalizeH="0" baseline="0" noProof="1">
                <a:ln>
                  <a:noFill/>
                </a:ln>
                <a:solidFill>
                  <a:schemeClr val="tx1"/>
                </a:solidFill>
                <a:effectLst/>
                <a:uLnTx/>
                <a:uFillTx/>
                <a:latin typeface="+mn-lt"/>
                <a:ea typeface="+mn-ea"/>
                <a:cs typeface="+mn-cs"/>
              </a:rPr>
              <a:t>学生应至少</a:t>
            </a:r>
            <a:r>
              <a:rPr kumimoji="0" lang="zh-CN" altLang="en-US" sz="3200" b="1" i="0" u="none" strike="noStrike" kern="1200" cap="none" spc="0" normalizeH="0" baseline="0" noProof="1">
                <a:ln>
                  <a:noFill/>
                </a:ln>
                <a:solidFill>
                  <a:srgbClr val="C00000"/>
                </a:solidFill>
                <a:effectLst/>
                <a:uLnTx/>
                <a:uFillTx/>
                <a:latin typeface="+mn-lt"/>
                <a:ea typeface="+mn-ea"/>
                <a:cs typeface="+mn-cs"/>
              </a:rPr>
              <a:t>提前</a:t>
            </a:r>
            <a:r>
              <a:rPr kumimoji="0" lang="en-US" altLang="zh-CN" sz="3200" b="1" i="0" u="none" strike="noStrike" kern="1200" cap="none" spc="0" normalizeH="0" baseline="0" noProof="1">
                <a:ln>
                  <a:noFill/>
                </a:ln>
                <a:solidFill>
                  <a:srgbClr val="C00000"/>
                </a:solidFill>
                <a:effectLst/>
                <a:uLnTx/>
                <a:uFillTx/>
                <a:latin typeface="+mn-lt"/>
                <a:ea typeface="+mn-ea"/>
                <a:cs typeface="+mn-cs"/>
              </a:rPr>
              <a:t>20</a:t>
            </a:r>
            <a:r>
              <a:rPr kumimoji="0" lang="zh-CN" altLang="en-US" sz="3200" b="1" i="0" u="none" strike="noStrike" kern="1200" cap="none" spc="0" normalizeH="0" baseline="0" noProof="1">
                <a:ln>
                  <a:noFill/>
                </a:ln>
                <a:solidFill>
                  <a:srgbClr val="C00000"/>
                </a:solidFill>
                <a:effectLst/>
                <a:uLnTx/>
                <a:uFillTx/>
                <a:latin typeface="+mn-lt"/>
                <a:ea typeface="+mn-ea"/>
                <a:cs typeface="+mn-cs"/>
              </a:rPr>
              <a:t>分钟</a:t>
            </a:r>
            <a:r>
              <a:rPr kumimoji="0" lang="zh-CN" altLang="en-US" sz="3200" b="1" i="0" u="none" strike="noStrike" kern="1200" cap="none" spc="0" normalizeH="0" baseline="0" noProof="1">
                <a:ln>
                  <a:noFill/>
                </a:ln>
                <a:solidFill>
                  <a:schemeClr val="tx1"/>
                </a:solidFill>
                <a:effectLst/>
                <a:uLnTx/>
                <a:uFillTx/>
                <a:latin typeface="+mn-lt"/>
                <a:ea typeface="+mn-ea"/>
                <a:cs typeface="+mn-cs"/>
              </a:rPr>
              <a:t>到考场，并按照教务系统</a:t>
            </a:r>
            <a:r>
              <a:rPr kumimoji="0" lang="zh-CN" altLang="en-US" sz="3200" b="1" i="0" u="none" strike="noStrike" kern="1200" cap="none" spc="0" normalizeH="0" baseline="0" noProof="1">
                <a:ln>
                  <a:noFill/>
                </a:ln>
                <a:solidFill>
                  <a:srgbClr val="C00000"/>
                </a:solidFill>
                <a:effectLst/>
                <a:uLnTx/>
                <a:uFillTx/>
                <a:latin typeface="+mn-lt"/>
                <a:ea typeface="+mn-ea"/>
                <a:cs typeface="+mn-cs"/>
              </a:rPr>
              <a:t>指定的教室</a:t>
            </a:r>
            <a:r>
              <a:rPr kumimoji="0" lang="zh-CN" altLang="en-US" sz="3200" b="1" i="0" u="none" strike="noStrike" kern="1200" cap="none" spc="0" normalizeH="0" baseline="0" noProof="1">
                <a:ln>
                  <a:noFill/>
                </a:ln>
                <a:solidFill>
                  <a:schemeClr val="tx1"/>
                </a:solidFill>
                <a:effectLst/>
                <a:uLnTx/>
                <a:uFillTx/>
                <a:latin typeface="+mn-lt"/>
                <a:ea typeface="+mn-ea"/>
                <a:cs typeface="+mn-cs"/>
              </a:rPr>
              <a:t>参加考试。考生迟到30分钟及以上者，不得参加考试；如因学生未按指定地点参加考试而出现试卷丢失或成绩无法登录等后果，由学生自行承担责任。</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171450" marR="0" lvl="0" indent="-171450" algn="l" defTabSz="914400" rtl="0" eaLnBrk="1" fontAlgn="base" latinLnBrk="0" hangingPunct="1">
              <a:lnSpc>
                <a:spcPct val="110000"/>
              </a:lnSpc>
              <a:spcBef>
                <a:spcPts val="750"/>
              </a:spcBef>
              <a:spcAft>
                <a:spcPct val="0"/>
              </a:spcAft>
              <a:buClrTx/>
              <a:buSzTx/>
              <a:buFont typeface="Arial" panose="020B0604020202020204" pitchFamily="34" charset="0"/>
              <a:buNone/>
              <a:defRPr/>
            </a:pPr>
            <a:r>
              <a:rPr kumimoji="0" lang="en-US" altLang="zh-CN" sz="3200" b="1" i="0" u="none" strike="noStrike" kern="1200" cap="none" spc="0" normalizeH="0" baseline="0" noProof="1">
                <a:ln>
                  <a:noFill/>
                </a:ln>
                <a:solidFill>
                  <a:schemeClr val="tx1"/>
                </a:solidFill>
                <a:effectLst/>
                <a:uLnTx/>
                <a:uFillTx/>
                <a:latin typeface="+mn-lt"/>
                <a:ea typeface="+mn-ea"/>
                <a:cs typeface="+mn-cs"/>
              </a:rPr>
              <a:t>2.</a:t>
            </a:r>
            <a:r>
              <a:rPr kumimoji="0" lang="zh-CN" altLang="en-US" sz="3200" b="1" i="0" u="none" strike="noStrike" kern="1200" cap="none" spc="0" normalizeH="0" baseline="0" noProof="1">
                <a:ln>
                  <a:noFill/>
                </a:ln>
                <a:solidFill>
                  <a:schemeClr val="tx1"/>
                </a:solidFill>
                <a:effectLst/>
                <a:uLnTx/>
                <a:uFillTx/>
                <a:latin typeface="+mn-lt"/>
                <a:ea typeface="+mn-ea"/>
                <a:cs typeface="+mn-cs"/>
              </a:rPr>
              <a:t>考试时，学生应将</a:t>
            </a:r>
            <a:r>
              <a:rPr kumimoji="0" lang="zh-CN" altLang="en-US" sz="3200" b="1" i="0" u="none" strike="noStrike" kern="1200" cap="none" spc="0" normalizeH="0" baseline="0" noProof="1">
                <a:ln>
                  <a:noFill/>
                </a:ln>
                <a:solidFill>
                  <a:srgbClr val="C00000"/>
                </a:solidFill>
                <a:effectLst/>
                <a:uLnTx/>
                <a:uFillTx/>
                <a:latin typeface="+mn-lt"/>
                <a:ea typeface="+mn-ea"/>
                <a:cs typeface="+mn-cs"/>
              </a:rPr>
              <a:t>学生证或身份证</a:t>
            </a:r>
            <a:r>
              <a:rPr kumimoji="0" lang="zh-CN" altLang="en-US" sz="3200" b="1" i="0" u="none" strike="noStrike" kern="1200" cap="none" spc="0" normalizeH="0" baseline="0" noProof="1">
                <a:ln>
                  <a:noFill/>
                </a:ln>
                <a:solidFill>
                  <a:schemeClr val="tx1"/>
                </a:solidFill>
                <a:effectLst/>
                <a:uLnTx/>
                <a:uFillTx/>
                <a:latin typeface="+mn-lt"/>
                <a:ea typeface="+mn-ea"/>
                <a:cs typeface="+mn-cs"/>
              </a:rPr>
              <a:t>放置于课桌上，以备监考教师检查。</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171450" marR="0" lvl="0" indent="-171450" algn="l" defTabSz="914400" rtl="0" eaLnBrk="1" fontAlgn="base" latinLnBrk="0" hangingPunct="1">
              <a:lnSpc>
                <a:spcPct val="110000"/>
              </a:lnSpc>
              <a:spcBef>
                <a:spcPts val="750"/>
              </a:spcBef>
              <a:spcAft>
                <a:spcPct val="0"/>
              </a:spcAft>
              <a:buClrTx/>
              <a:buSzTx/>
              <a:buFont typeface="Arial" panose="020B0604020202020204" pitchFamily="34" charset="0"/>
              <a:buNone/>
              <a:defRPr/>
            </a:pP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3.</a:t>
            </a: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学</a:t>
            </a:r>
            <a:r>
              <a:rPr kumimoji="0" lang="zh-CN" altLang="en-US" sz="3200" b="1" i="0" u="none" strike="noStrike" kern="1200" cap="none" spc="0" normalizeH="0" baseline="0" noProof="1">
                <a:ln>
                  <a:noFill/>
                </a:ln>
                <a:solidFill>
                  <a:schemeClr val="tx1"/>
                </a:solidFill>
                <a:effectLst/>
                <a:uLnTx/>
                <a:uFillTx/>
                <a:latin typeface="宋体" panose="02010600030101010101" pitchFamily="2" charset="-122"/>
                <a:ea typeface="+mn-ea"/>
                <a:cs typeface="+mn-cs"/>
                <a:sym typeface="+mn-ea"/>
              </a:rPr>
              <a:t>生</a:t>
            </a:r>
            <a:r>
              <a:rPr kumimoji="0" lang="zh-CN" altLang="en-US" sz="3200" b="1" i="0" u="none" strike="noStrike" kern="1200" cap="none" spc="0" normalizeH="0" baseline="0" noProof="1">
                <a:ln>
                  <a:noFill/>
                </a:ln>
                <a:solidFill>
                  <a:srgbClr val="C00000"/>
                </a:solidFill>
                <a:effectLst/>
                <a:uLnTx/>
                <a:uFillTx/>
                <a:latin typeface="宋体" panose="02010600030101010101" pitchFamily="2" charset="-122"/>
                <a:ea typeface="+mn-ea"/>
                <a:cs typeface="+mn-cs"/>
                <a:sym typeface="+mn-ea"/>
              </a:rPr>
              <a:t>不得将手机、笔记本电脑等通讯工具、数码产品带入考场</a:t>
            </a:r>
            <a:r>
              <a:rPr kumimoji="0" lang="zh-CN" altLang="en-US" sz="3200" b="1" i="0" u="none" strike="noStrike" kern="1200" cap="none" spc="0" normalizeH="0" baseline="0" noProof="1">
                <a:ln>
                  <a:noFill/>
                </a:ln>
                <a:solidFill>
                  <a:schemeClr val="tx1"/>
                </a:solidFill>
                <a:effectLst/>
                <a:uLnTx/>
                <a:uFillTx/>
                <a:latin typeface="宋体" panose="02010600030101010101" pitchFamily="2" charset="-122"/>
                <a:ea typeface="+mn-ea"/>
                <a:cs typeface="+mn-cs"/>
                <a:sym typeface="+mn-ea"/>
              </a:rPr>
              <a:t>，也不得将其作为计时工具使用。</a:t>
            </a:r>
            <a:endParaRPr kumimoji="0" lang="zh-CN" altLang="en-US" sz="3200" b="1" i="0" u="none" strike="noStrike" kern="1200" cap="none" spc="0" normalizeH="0" baseline="0" noProof="1">
              <a:ln>
                <a:noFill/>
              </a:ln>
              <a:solidFill>
                <a:schemeClr val="tx1"/>
              </a:solidFill>
              <a:effectLst/>
              <a:uLnTx/>
              <a:uFillTx/>
              <a:latin typeface="宋体" panose="02010600030101010101" pitchFamily="2" charset="-122"/>
              <a:ea typeface="+mn-ea"/>
              <a:cs typeface="+mn-cs"/>
              <a:sym typeface="+mn-ea"/>
            </a:endParaRPr>
          </a:p>
          <a:p>
            <a:pPr marL="171450" marR="0" lvl="0" indent="-171450" algn="l" defTabSz="914400" rtl="0" eaLnBrk="1" fontAlgn="base" latinLnBrk="0" hangingPunct="1">
              <a:lnSpc>
                <a:spcPct val="110000"/>
              </a:lnSpc>
              <a:spcBef>
                <a:spcPts val="750"/>
              </a:spcBef>
              <a:spcAft>
                <a:spcPct val="0"/>
              </a:spcAft>
              <a:buClrTx/>
              <a:buSzTx/>
              <a:buFont typeface="Arial" panose="020B0604020202020204" pitchFamily="34" charset="0"/>
              <a:buNone/>
              <a:defRPr/>
            </a:pPr>
            <a:r>
              <a:rPr kumimoji="0" lang="zh-CN" altLang="en-US" sz="3200" b="1" i="0" u="none" strike="noStrike" kern="1200" cap="none" spc="0" normalizeH="0" baseline="0" noProof="1">
                <a:ln>
                  <a:noFill/>
                </a:ln>
                <a:solidFill>
                  <a:schemeClr val="tx1"/>
                </a:solidFill>
                <a:effectLst/>
                <a:uLnTx/>
                <a:uFillTx/>
                <a:latin typeface="宋体" panose="02010600030101010101" pitchFamily="2" charset="-122"/>
                <a:ea typeface="+mn-ea"/>
                <a:cs typeface="+mn-cs"/>
                <a:sym typeface="+mn-ea"/>
              </a:rPr>
              <a:t> 除考试用文具外，其他物品应放在监考老师指定的位置。</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p:txBody>
      </p:sp>
      <p:sp>
        <p:nvSpPr>
          <p:cNvPr id="4" name="标题 3"/>
          <p:cNvSpPr>
            <a:spLocks noGrp="1"/>
          </p:cNvSpPr>
          <p:nvPr>
            <p:ph type="title"/>
          </p:nvPr>
        </p:nvSpPr>
        <p:spPr>
          <a:xfrm>
            <a:off x="2152650" y="365125"/>
            <a:ext cx="7886700" cy="976313"/>
          </a:xfrm>
        </p:spPr>
        <p:txBody>
          <a:bodyPr vert="horz" wrap="square" lIns="91440" tIns="45720" rIns="91440" bIns="45720" numCol="1" anchor="ctr" anchorCtr="0" compatLnSpc="1">
            <a:normAutofit/>
          </a:body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本课程考试要求</a:t>
            </a:r>
            <a:r>
              <a:rPr kumimoji="0" lang="en-US" altLang="zh-CN" sz="4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 </a:t>
            </a:r>
            <a:endParaRPr kumimoji="0" lang="en-US" altLang="zh-CN" sz="4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p:txBody>
      </p:sp>
      <p:pic>
        <p:nvPicPr>
          <p:cNvPr id="2" name="图片 1" descr="CJ3036"/>
          <p:cNvPicPr>
            <a:picLocks noChangeAspect="1"/>
          </p:cNvPicPr>
          <p:nvPr/>
        </p:nvPicPr>
        <p:blipFill>
          <a:blip r:embed="rId1"/>
          <a:stretch>
            <a:fillRect/>
          </a:stretch>
        </p:blipFill>
        <p:spPr>
          <a:xfrm>
            <a:off x="1440815" y="404495"/>
            <a:ext cx="1217930" cy="7607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ln>
                  <a:noFill/>
                </a:ln>
                <a:solidFill>
                  <a:srgbClr val="C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sym typeface="+mn-ea"/>
              </a:rPr>
              <a:t>本课程考试要求</a:t>
            </a:r>
            <a:r>
              <a:rPr lang="en-US" altLang="zh-CN" noProof="0" dirty="0">
                <a:ln>
                  <a:noFill/>
                </a:ln>
                <a:solidFill>
                  <a:srgbClr val="C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sym typeface="+mn-ea"/>
              </a:rPr>
              <a:t> </a:t>
            </a:r>
            <a:endParaRPr lang="zh-CN" altLang="en-US"/>
          </a:p>
        </p:txBody>
      </p:sp>
      <p:sp>
        <p:nvSpPr>
          <p:cNvPr id="15361" name="Rectangle 2"/>
          <p:cNvSpPr>
            <a:spLocks noGrp="1"/>
          </p:cNvSpPr>
          <p:nvPr>
            <p:ph idx="1"/>
          </p:nvPr>
        </p:nvSpPr>
        <p:spPr>
          <a:xfrm>
            <a:off x="690880" y="1818640"/>
            <a:ext cx="11236960" cy="4351655"/>
          </a:xfrm>
        </p:spPr>
        <p:txBody>
          <a:bodyPr vert="horz" wrap="square" lIns="91440" tIns="45720" rIns="91440" bIns="45720" anchor="t" anchorCtr="0"/>
          <a:lstStyle/>
          <a:p>
            <a:pPr eaLnBrk="1" hangingPunct="1">
              <a:lnSpc>
                <a:spcPts val="4200"/>
              </a:lnSpc>
              <a:buFont typeface="Arial" panose="020B0604020202020204" pitchFamily="34" charset="0"/>
              <a:buNone/>
            </a:pPr>
            <a:r>
              <a:rPr lang="en-US" altLang="zh-CN"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4.</a:t>
            </a:r>
            <a:r>
              <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参加考试的学生应在考试</a:t>
            </a:r>
            <a:r>
              <a:rPr lang="zh-CN" altLang="en-US" sz="3200" b="1" kern="1200" dirty="0">
                <a:solidFill>
                  <a:srgbClr val="C00000"/>
                </a:solidFill>
                <a:latin typeface="宋体" panose="02010600030101010101" pitchFamily="2" charset="-122"/>
                <a:ea typeface="宋体" panose="02010600030101010101" pitchFamily="2" charset="-122"/>
                <a:cs typeface="宋体" panose="02010600030101010101" pitchFamily="2" charset="-122"/>
              </a:rPr>
              <a:t>签到表上签到</a:t>
            </a:r>
            <a:r>
              <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ts val="4200"/>
              </a:lnSpc>
              <a:buFont typeface="Arial" panose="020B0604020202020204" pitchFamily="34" charset="0"/>
              <a:buNone/>
            </a:pPr>
            <a:r>
              <a:rPr lang="en-US" altLang="zh-CN"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5.</a:t>
            </a:r>
            <a:r>
              <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应在</a:t>
            </a:r>
            <a:r>
              <a:rPr lang="zh-CN" altLang="en-US" sz="3200" b="1" kern="1200" dirty="0">
                <a:solidFill>
                  <a:srgbClr val="C00000"/>
                </a:solidFill>
                <a:latin typeface="宋体" panose="02010600030101010101" pitchFamily="2" charset="-122"/>
                <a:ea typeface="宋体" panose="02010600030101010101" pitchFamily="2" charset="-122"/>
                <a:cs typeface="宋体" panose="02010600030101010101" pitchFamily="2" charset="-122"/>
              </a:rPr>
              <a:t>试题和答卷上</a:t>
            </a:r>
            <a:r>
              <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写清课序号、任课教师姓名、本人姓名、班级、学号等信息。</a:t>
            </a:r>
            <a:endPar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ts val="4200"/>
              </a:lnSpc>
              <a:buFont typeface="Wingdings" panose="05000000000000000000" pitchFamily="2" charset="2"/>
              <a:buNone/>
            </a:pPr>
            <a:r>
              <a:rPr lang="en-US" altLang="zh-CN"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6.</a:t>
            </a:r>
            <a:r>
              <a:rPr lang="zh-CN" altLang="en-US" sz="3200" b="1" kern="1200" dirty="0">
                <a:solidFill>
                  <a:srgbClr val="C00000"/>
                </a:solidFill>
                <a:latin typeface="宋体" panose="02010600030101010101" pitchFamily="2" charset="-122"/>
                <a:ea typeface="宋体" panose="02010600030101010101" pitchFamily="2" charset="-122"/>
                <a:cs typeface="宋体" panose="02010600030101010101" pitchFamily="2" charset="-122"/>
              </a:rPr>
              <a:t>答案全部写在答题纸（答卷）上，写在试题上</a:t>
            </a:r>
            <a:r>
              <a:rPr lang="zh-CN" altLang="en-US" sz="3200" b="1" u="sng" kern="1200" dirty="0">
                <a:solidFill>
                  <a:srgbClr val="C00000"/>
                </a:solidFill>
                <a:latin typeface="宋体" panose="02010600030101010101" pitchFamily="2" charset="-122"/>
                <a:ea typeface="宋体" panose="02010600030101010101" pitchFamily="2" charset="-122"/>
                <a:cs typeface="宋体" panose="02010600030101010101" pitchFamily="2" charset="-122"/>
              </a:rPr>
              <a:t>无效</a:t>
            </a:r>
            <a:r>
              <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ts val="4200"/>
              </a:lnSpc>
              <a:buFont typeface="Wingdings" panose="05000000000000000000" pitchFamily="2" charset="2"/>
              <a:buNone/>
            </a:pPr>
            <a:r>
              <a:rPr lang="en-US" altLang="zh-CN"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7.</a:t>
            </a:r>
            <a:r>
              <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交试卷时应将试题与答卷一并交给监考人员，</a:t>
            </a:r>
            <a:r>
              <a:rPr lang="zh-CN" altLang="en-US" sz="3200" b="1" kern="1200" dirty="0">
                <a:solidFill>
                  <a:srgbClr val="C00000"/>
                </a:solidFill>
                <a:latin typeface="宋体" panose="02010600030101010101" pitchFamily="2" charset="-122"/>
                <a:ea typeface="宋体" panose="02010600030101010101" pitchFamily="2" charset="-122"/>
                <a:cs typeface="宋体" panose="02010600030101010101" pitchFamily="2" charset="-122"/>
              </a:rPr>
              <a:t>试题不得带出考场</a:t>
            </a:r>
            <a:r>
              <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ct val="140000"/>
              </a:lnSpc>
              <a:buFont typeface="Arial" panose="020B0604020202020204" pitchFamily="34" charset="0"/>
              <a:buNone/>
            </a:pPr>
            <a:endParaRPr lang="zh-CN" altLang="en-US" sz="3200" b="1" kern="120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pic>
        <p:nvPicPr>
          <p:cNvPr id="4" name="图片 3" descr="CJ3036"/>
          <p:cNvPicPr>
            <a:picLocks noChangeAspect="1"/>
          </p:cNvPicPr>
          <p:nvPr/>
        </p:nvPicPr>
        <p:blipFill>
          <a:blip r:embed="rId1"/>
          <a:stretch>
            <a:fillRect/>
          </a:stretch>
        </p:blipFill>
        <p:spPr>
          <a:xfrm>
            <a:off x="1559560" y="447675"/>
            <a:ext cx="1027430" cy="7518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386" name="Rectangle 12"/>
          <p:cNvSpPr>
            <a:spLocks noGrp="1"/>
          </p:cNvSpPr>
          <p:nvPr>
            <p:ph type="title"/>
          </p:nvPr>
        </p:nvSpPr>
        <p:spPr>
          <a:xfrm>
            <a:off x="747395" y="412750"/>
            <a:ext cx="10515600" cy="969010"/>
          </a:xfrm>
        </p:spPr>
        <p:txBody>
          <a:bodyPr vert="horz" wrap="square" lIns="91440" tIns="45720" rIns="91440" bIns="45720" anchor="ctr" anchorCtr="0">
            <a:normAutofit/>
          </a:bodyPr>
          <a:lstStyle/>
          <a:p>
            <a:pPr algn="ctr" eaLnBrk="1" hangingPunct="1"/>
            <a:r>
              <a:rPr lang="zh-CN" altLang="en-US" sz="4890" dirty="0">
                <a:solidFill>
                  <a:srgbClr val="C00000"/>
                </a:solidFill>
                <a:effectLst>
                  <a:outerShdw blurRad="38100" dist="38100" dir="2700000" algn="tl">
                    <a:srgbClr val="000000">
                      <a:alpha val="43137"/>
                    </a:srgbClr>
                  </a:outerShdw>
                </a:effectLst>
                <a:latin typeface="隶书" panose="02010509060101010101" pitchFamily="49" charset="-122"/>
              </a:rPr>
              <a:t>诚信考试承诺</a:t>
            </a:r>
            <a:endParaRPr lang="zh-CN" altLang="en-US" sz="4890" dirty="0">
              <a:solidFill>
                <a:srgbClr val="C00000"/>
              </a:solidFill>
              <a:effectLst>
                <a:outerShdw blurRad="38100" dist="38100" dir="2700000" algn="tl">
                  <a:srgbClr val="000000">
                    <a:alpha val="43137"/>
                  </a:srgbClr>
                </a:outerShdw>
              </a:effectLst>
              <a:latin typeface="隶书" panose="02010509060101010101" pitchFamily="49" charset="-122"/>
            </a:endParaRPr>
          </a:p>
        </p:txBody>
      </p:sp>
      <p:sp>
        <p:nvSpPr>
          <p:cNvPr id="16390" name="TextBox 9"/>
          <p:cNvSpPr txBox="1"/>
          <p:nvPr/>
        </p:nvSpPr>
        <p:spPr>
          <a:xfrm>
            <a:off x="1160463" y="1773238"/>
            <a:ext cx="1489075" cy="460375"/>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t" anchorCtr="0">
            <a:spAutoFit/>
          </a:bodyPr>
          <a:lstStyle/>
          <a:p>
            <a:pPr algn="ctr"/>
            <a:r>
              <a:rPr lang="zh-CN" altLang="en-US" sz="2400" b="1" dirty="0">
                <a:latin typeface="Arial" panose="020B0604020202020204" pitchFamily="34" charset="0"/>
                <a:ea typeface="宋体" panose="02010600030101010101" pitchFamily="2" charset="-122"/>
              </a:rPr>
              <a:t>试题样本</a:t>
            </a:r>
            <a:endParaRPr lang="zh-CN" altLang="en-US" sz="2400" b="1" dirty="0">
              <a:latin typeface="Arial" panose="020B0604020202020204" pitchFamily="34" charset="0"/>
              <a:ea typeface="宋体" panose="02010600030101010101" pitchFamily="2" charset="-122"/>
            </a:endParaRPr>
          </a:p>
        </p:txBody>
      </p:sp>
      <p:grpSp>
        <p:nvGrpSpPr>
          <p:cNvPr id="12" name="组合 11"/>
          <p:cNvGrpSpPr/>
          <p:nvPr/>
        </p:nvGrpSpPr>
        <p:grpSpPr>
          <a:xfrm>
            <a:off x="3056255" y="1381760"/>
            <a:ext cx="7623810" cy="5028565"/>
            <a:chOff x="4526" y="2176"/>
            <a:chExt cx="12006" cy="7919"/>
          </a:xfrm>
        </p:grpSpPr>
        <p:pic>
          <p:nvPicPr>
            <p:cNvPr id="8" name="图片 7" descr="图片1"/>
            <p:cNvPicPr>
              <a:picLocks noChangeAspect="1"/>
            </p:cNvPicPr>
            <p:nvPr/>
          </p:nvPicPr>
          <p:blipFill>
            <a:blip r:embed="rId1"/>
            <a:stretch>
              <a:fillRect/>
            </a:stretch>
          </p:blipFill>
          <p:spPr>
            <a:xfrm>
              <a:off x="4526" y="2176"/>
              <a:ext cx="8995" cy="7901"/>
            </a:xfrm>
            <a:prstGeom prst="rect">
              <a:avLst/>
            </a:prstGeom>
          </p:spPr>
        </p:pic>
        <p:sp>
          <p:nvSpPr>
            <p:cNvPr id="16387" name="AutoShape 8"/>
            <p:cNvSpPr/>
            <p:nvPr/>
          </p:nvSpPr>
          <p:spPr>
            <a:xfrm rot="-10800000" flipV="1">
              <a:off x="12022" y="7155"/>
              <a:ext cx="1735" cy="390"/>
            </a:xfrm>
            <a:prstGeom prst="rightArrow">
              <a:avLst>
                <a:gd name="adj1" fmla="val 50000"/>
                <a:gd name="adj2" fmla="val 130598"/>
              </a:avLst>
            </a:prstGeom>
            <a:solidFill>
              <a:schemeClr val="accent2"/>
            </a:solidFill>
            <a:ln w="9525" cap="flat" cmpd="sng">
              <a:solidFill>
                <a:srgbClr val="FF0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6388" name="Oval 11"/>
            <p:cNvSpPr/>
            <p:nvPr/>
          </p:nvSpPr>
          <p:spPr>
            <a:xfrm>
              <a:off x="8400" y="6953"/>
              <a:ext cx="3515" cy="795"/>
            </a:xfrm>
            <a:prstGeom prst="ellipse">
              <a:avLst/>
            </a:prstGeom>
            <a:noFill/>
            <a:ln w="9525" cap="flat" cmpd="sng">
              <a:solidFill>
                <a:srgbClr val="FF0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9" name="TextBox 8"/>
            <p:cNvSpPr txBox="1"/>
            <p:nvPr/>
          </p:nvSpPr>
          <p:spPr>
            <a:xfrm>
              <a:off x="13864" y="6837"/>
              <a:ext cx="2668" cy="822"/>
            </a:xfrm>
            <a:prstGeom prst="rect">
              <a:avLst/>
            </a:prstGeom>
            <a:solidFill>
              <a:schemeClr val="accent2"/>
            </a:solidFill>
          </p:spPr>
          <p:txBody>
            <a:bodyPr>
              <a:spAutoFit/>
            </a:bodyPr>
            <a:lstStyle/>
            <a:p>
              <a:pPr marR="0" defTabSz="914400">
                <a:buClrTx/>
                <a:buSzTx/>
                <a:defRPr/>
              </a:pPr>
              <a:r>
                <a:rPr kumimoji="0" lang="zh-CN" altLang="en-US" sz="2800" b="1" kern="1200" cap="none" spc="0" normalizeH="0" baseline="0" noProof="0" dirty="0">
                  <a:solidFill>
                    <a:srgbClr val="FFFF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考生签名</a:t>
              </a:r>
              <a:endParaRPr kumimoji="0" lang="zh-CN" altLang="en-US" sz="2800" b="1" kern="1200" cap="none" spc="0" normalizeH="0" baseline="0" noProof="0" dirty="0">
                <a:solidFill>
                  <a:srgbClr val="FFFF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5" name="矩形 4"/>
            <p:cNvSpPr/>
            <p:nvPr/>
          </p:nvSpPr>
          <p:spPr>
            <a:xfrm>
              <a:off x="11065" y="3949"/>
              <a:ext cx="445" cy="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11" name="直接连接符 10"/>
            <p:cNvCxnSpPr/>
            <p:nvPr/>
          </p:nvCxnSpPr>
          <p:spPr>
            <a:xfrm>
              <a:off x="5651" y="5285"/>
              <a:ext cx="15" cy="4811"/>
            </a:xfrm>
            <a:prstGeom prst="line">
              <a:avLst/>
            </a:prstGeom>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17409" name="剪贴画占位符 9" descr="Scan.jpg"/>
          <p:cNvPicPr>
            <a:picLocks noGrp="1" noChangeAspect="1"/>
          </p:cNvPicPr>
          <p:nvPr>
            <p:ph type="clipArt" sz="half" idx="2"/>
          </p:nvPr>
        </p:nvPicPr>
        <p:blipFill>
          <a:blip r:embed="rId1"/>
          <a:stretch>
            <a:fillRect/>
          </a:stretch>
        </p:blipFill>
        <p:spPr>
          <a:xfrm>
            <a:off x="3059430" y="2025650"/>
            <a:ext cx="7233920" cy="4521835"/>
          </a:xfrm>
        </p:spPr>
      </p:pic>
      <p:sp>
        <p:nvSpPr>
          <p:cNvPr id="10242" name="Rectangle 2"/>
          <p:cNvSpPr>
            <a:spLocks noGrp="1" noChangeArrowheads="1"/>
          </p:cNvSpPr>
          <p:nvPr>
            <p:ph type="title"/>
          </p:nvPr>
        </p:nvSpPr>
        <p:spPr>
          <a:xfrm>
            <a:off x="2237105" y="422275"/>
            <a:ext cx="8229600" cy="647700"/>
          </a:xfrm>
        </p:spPr>
        <p:txBody>
          <a:bodyPr vert="horz" wrap="square" lIns="91440" tIns="45720" rIns="91440" bIns="45720" numCol="1" anchor="ctr" anchorCtr="0" compatLnSpc="1">
            <a:normAutofit fontScale="90000"/>
          </a:body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445"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隶书" panose="02010509060101010101" pitchFamily="49" charset="-122"/>
                <a:ea typeface="+mj-ea"/>
                <a:cs typeface="+mj-cs"/>
              </a:rPr>
              <a:t>答题纸（试卷）样式</a:t>
            </a:r>
            <a:endParaRPr kumimoji="0" lang="zh-CN" altLang="en-US" sz="4445"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隶书" panose="02010509060101010101" pitchFamily="49" charset="-122"/>
              <a:ea typeface="+mj-ea"/>
              <a:cs typeface="+mj-cs"/>
            </a:endParaRPr>
          </a:p>
        </p:txBody>
      </p:sp>
      <p:sp>
        <p:nvSpPr>
          <p:cNvPr id="17411" name="Text Box 8"/>
          <p:cNvSpPr txBox="1"/>
          <p:nvPr/>
        </p:nvSpPr>
        <p:spPr>
          <a:xfrm>
            <a:off x="5807075" y="5060633"/>
            <a:ext cx="3392170" cy="492125"/>
          </a:xfrm>
          <a:prstGeom prst="rect">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square" lIns="0" tIns="0" rIns="0" bIns="0" anchor="ctr" anchorCtr="0">
            <a:spAutoFit/>
          </a:bodyPr>
          <a:lstStyle/>
          <a:p>
            <a:pPr algn="ctr"/>
            <a:r>
              <a:rPr lang="zh-CN" altLang="en-US" sz="3200" b="1" dirty="0">
                <a:latin typeface="Arial" panose="020B0604020202020204" pitchFamily="34" charset="0"/>
                <a:ea typeface="宋体" panose="02010600030101010101" pitchFamily="2" charset="-122"/>
              </a:rPr>
              <a:t>考生答题处</a:t>
            </a:r>
            <a:endParaRPr lang="zh-CN" altLang="en-US" sz="3200" b="1" dirty="0">
              <a:latin typeface="Arial" panose="020B0604020202020204" pitchFamily="34" charset="0"/>
              <a:ea typeface="宋体" panose="02010600030101010101" pitchFamily="2" charset="-122"/>
            </a:endParaRPr>
          </a:p>
        </p:txBody>
      </p:sp>
      <p:sp>
        <p:nvSpPr>
          <p:cNvPr id="17412" name="Text Box 9"/>
          <p:cNvSpPr txBox="1"/>
          <p:nvPr/>
        </p:nvSpPr>
        <p:spPr>
          <a:xfrm>
            <a:off x="7616825" y="1635125"/>
            <a:ext cx="2447925" cy="52197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anchor="t" anchorCtr="0">
            <a:spAutoFit/>
          </a:bodyPr>
          <a:lstStyle/>
          <a:p>
            <a:pPr>
              <a:spcBef>
                <a:spcPct val="50000"/>
              </a:spcBef>
            </a:pPr>
            <a:r>
              <a:rPr lang="zh-CN" altLang="en-US" sz="2800" b="1" dirty="0">
                <a:latin typeface="Arial" panose="020B0604020202020204" pitchFamily="34" charset="0"/>
                <a:ea typeface="宋体" panose="02010600030101010101" pitchFamily="2" charset="-122"/>
              </a:rPr>
              <a:t>考生填写信息</a:t>
            </a:r>
            <a:endParaRPr lang="zh-CN" altLang="en-US" sz="2800" b="1" dirty="0">
              <a:latin typeface="Arial" panose="020B0604020202020204" pitchFamily="34" charset="0"/>
              <a:ea typeface="宋体" panose="02010600030101010101" pitchFamily="2" charset="-122"/>
            </a:endParaRPr>
          </a:p>
        </p:txBody>
      </p:sp>
      <p:sp>
        <p:nvSpPr>
          <p:cNvPr id="17413" name="AutoShape 11"/>
          <p:cNvSpPr/>
          <p:nvPr/>
        </p:nvSpPr>
        <p:spPr>
          <a:xfrm rot="-4197544">
            <a:off x="8393430" y="2239010"/>
            <a:ext cx="360045" cy="248920"/>
          </a:xfrm>
          <a:prstGeom prst="leftArrow">
            <a:avLst>
              <a:gd name="adj1" fmla="val 50000"/>
              <a:gd name="adj2" fmla="val 31146"/>
            </a:avLst>
          </a:prstGeom>
          <a:solidFill>
            <a:srgbClr val="FFFF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14" name="Text Box 12"/>
          <p:cNvSpPr txBox="1"/>
          <p:nvPr/>
        </p:nvSpPr>
        <p:spPr>
          <a:xfrm>
            <a:off x="1437958" y="1355090"/>
            <a:ext cx="2159000" cy="1081405"/>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square" anchor="t" anchorCtr="0">
            <a:spAutoFit/>
          </a:bodyPr>
          <a:lstStyle/>
          <a:p>
            <a:pPr>
              <a:lnSpc>
                <a:spcPct val="90000"/>
              </a:lnSpc>
              <a:spcBef>
                <a:spcPct val="50000"/>
              </a:spcBef>
            </a:pPr>
            <a:r>
              <a:rPr lang="zh-CN" altLang="en-US" sz="2800" b="1" dirty="0">
                <a:latin typeface="Arial" panose="020B0604020202020204" pitchFamily="34" charset="0"/>
                <a:ea typeface="宋体" panose="02010600030101010101" pitchFamily="2" charset="-122"/>
              </a:rPr>
              <a:t>教师填写</a:t>
            </a:r>
            <a:endParaRPr lang="zh-CN" altLang="en-US" sz="2800" b="1" dirty="0">
              <a:latin typeface="Arial" panose="020B0604020202020204" pitchFamily="34" charset="0"/>
              <a:ea typeface="宋体" panose="02010600030101010101" pitchFamily="2" charset="-122"/>
            </a:endParaRPr>
          </a:p>
          <a:p>
            <a:pPr algn="ctr">
              <a:lnSpc>
                <a:spcPct val="90000"/>
              </a:lnSpc>
              <a:spcBef>
                <a:spcPct val="50000"/>
              </a:spcBef>
            </a:pPr>
            <a:r>
              <a:rPr lang="zh-CN" altLang="en-US" sz="2800" b="1" dirty="0">
                <a:latin typeface="Arial" panose="020B0604020202020204" pitchFamily="34" charset="0"/>
                <a:ea typeface="宋体" panose="02010600030101010101" pitchFamily="2" charset="-122"/>
              </a:rPr>
              <a:t>阅卷成绩处</a:t>
            </a:r>
            <a:endParaRPr lang="zh-CN" altLang="en-US" sz="2800" b="1" dirty="0">
              <a:latin typeface="Arial" panose="020B0604020202020204" pitchFamily="34" charset="0"/>
              <a:ea typeface="宋体" panose="02010600030101010101" pitchFamily="2" charset="-122"/>
            </a:endParaRPr>
          </a:p>
        </p:txBody>
      </p:sp>
      <p:sp>
        <p:nvSpPr>
          <p:cNvPr id="17415" name="AutoShape 14"/>
          <p:cNvSpPr/>
          <p:nvPr/>
        </p:nvSpPr>
        <p:spPr>
          <a:xfrm rot="-2212455">
            <a:off x="3900805" y="2130425"/>
            <a:ext cx="217488" cy="862013"/>
          </a:xfrm>
          <a:prstGeom prst="downArrow">
            <a:avLst>
              <a:gd name="adj1" fmla="val 50000"/>
              <a:gd name="adj2" fmla="val 98977"/>
            </a:avLst>
          </a:prstGeom>
          <a:solidFill>
            <a:srgbClr val="FF0000"/>
          </a:solidFill>
          <a:ln w="9525" cap="flat" cmpd="sng">
            <a:solidFill>
              <a:srgbClr val="FFFF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16" name="Text Box 9"/>
          <p:cNvSpPr txBox="1"/>
          <p:nvPr/>
        </p:nvSpPr>
        <p:spPr>
          <a:xfrm>
            <a:off x="1893888" y="3206750"/>
            <a:ext cx="715962" cy="2676525"/>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square" anchor="t" anchorCtr="0">
            <a:spAutoFit/>
          </a:bodyPr>
          <a:lstStyle/>
          <a:p>
            <a:pPr algn="ctr">
              <a:spcBef>
                <a:spcPct val="50000"/>
              </a:spcBef>
            </a:pPr>
            <a:r>
              <a:rPr lang="zh-CN" altLang="en-US" sz="2800" b="1" dirty="0">
                <a:latin typeface="Arial" panose="020B0604020202020204" pitchFamily="34" charset="0"/>
                <a:ea typeface="宋体" panose="02010600030101010101" pitchFamily="2" charset="-122"/>
              </a:rPr>
              <a:t>考生填写信息</a:t>
            </a:r>
            <a:endParaRPr lang="zh-CN" altLang="en-US" sz="2800" b="1" dirty="0">
              <a:latin typeface="Arial" panose="020B0604020202020204" pitchFamily="34" charset="0"/>
              <a:ea typeface="宋体" panose="02010600030101010101" pitchFamily="2" charset="-122"/>
            </a:endParaRPr>
          </a:p>
        </p:txBody>
      </p:sp>
      <p:sp>
        <p:nvSpPr>
          <p:cNvPr id="12" name="右箭头 11"/>
          <p:cNvSpPr/>
          <p:nvPr/>
        </p:nvSpPr>
        <p:spPr>
          <a:xfrm>
            <a:off x="2609850" y="4102100"/>
            <a:ext cx="504825" cy="288925"/>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a:xfrm>
            <a:off x="901700" y="530860"/>
            <a:ext cx="10515600" cy="969010"/>
          </a:xfrm>
        </p:spPr>
        <p:txBody>
          <a:bodyPr anchor="ctr" anchorCtr="0"/>
          <a:lstStyle/>
          <a:p>
            <a:pPr algn="ctr"/>
            <a:r>
              <a:rPr lang="zh-CN" altLang="en-US" sz="4800">
                <a:solidFill>
                  <a:srgbClr val="C00000"/>
                </a:solidFill>
                <a:effectLst>
                  <a:outerShdw blurRad="38100" dist="38100" dir="2700000" algn="tl">
                    <a:srgbClr val="000000">
                      <a:alpha val="43137"/>
                    </a:srgbClr>
                  </a:outerShdw>
                </a:effectLst>
                <a:latin typeface="黑体" panose="02010609060101010101" charset="-122"/>
                <a:ea typeface="黑体" panose="02010609060101010101" charset="-122"/>
              </a:rPr>
              <a:t>关于成绩查询</a:t>
            </a:r>
            <a:endParaRPr lang="zh-CN" altLang="en-US" sz="4800">
              <a:solidFill>
                <a:srgbClr val="C00000"/>
              </a:solidFill>
              <a:effectLst>
                <a:outerShdw blurRad="38100" dist="38100" dir="2700000" algn="tl">
                  <a:srgbClr val="000000">
                    <a:alpha val="43137"/>
                  </a:srgbClr>
                </a:outerShdw>
              </a:effectLst>
              <a:latin typeface="黑体" panose="02010609060101010101" charset="-122"/>
              <a:ea typeface="黑体" panose="02010609060101010101" charset="-122"/>
            </a:endParaRPr>
          </a:p>
        </p:txBody>
      </p:sp>
      <p:sp>
        <p:nvSpPr>
          <p:cNvPr id="12290" name="Rectangle 3"/>
          <p:cNvSpPr>
            <a:spLocks noGrp="1" noChangeArrowheads="1"/>
          </p:cNvSpPr>
          <p:nvPr>
            <p:ph idx="1"/>
          </p:nvPr>
        </p:nvSpPr>
        <p:spPr>
          <a:xfrm>
            <a:off x="965835" y="1581150"/>
            <a:ext cx="10451465" cy="4051300"/>
          </a:xfrm>
        </p:spPr>
        <p:txBody>
          <a:bodyPr vert="horz" wrap="square" lIns="91440" tIns="45720" rIns="91440" bIns="45720" numCol="1" anchor="t" anchorCtr="0" compatLnSpc="1">
            <a:noAutofit/>
          </a:bodyPr>
          <a:lstStyle/>
          <a:p>
            <a:pPr marL="171450" marR="0" lvl="0" indent="-171450" algn="l" defTabSz="914400" rtl="0" eaLnBrk="1" fontAlgn="base" latinLnBrk="0" hangingPunct="1">
              <a:lnSpc>
                <a:spcPct val="150000"/>
              </a:lnSpc>
              <a:spcBef>
                <a:spcPts val="750"/>
              </a:spcBef>
              <a:spcAft>
                <a:spcPct val="0"/>
              </a:spcAft>
              <a:buClrTx/>
              <a:buSzTx/>
              <a:buFont typeface="Arial" panose="020B0604020202020204" pitchFamily="34" charset="0"/>
              <a:buChar char="•"/>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 考试成绩录入截至时间：</a:t>
            </a:r>
            <a:r>
              <a:rPr kumimoji="0" lang="zh-CN" altLang="en-US" b="1" i="0" u="none" strike="noStrike" kern="1200" cap="none" spc="0" normalizeH="0" baseline="0" noProof="0" dirty="0">
                <a:ln>
                  <a:noFill/>
                </a:ln>
                <a:solidFill>
                  <a:srgbClr val="C00000"/>
                </a:solidFill>
                <a:effectLst/>
                <a:uLnTx/>
                <a:uFillTx/>
                <a:latin typeface="+mn-lt"/>
                <a:ea typeface="+mn-ea"/>
                <a:cs typeface="+mn-cs"/>
              </a:rPr>
              <a:t>以教务处通知为准。</a:t>
            </a:r>
            <a:endParaRPr kumimoji="0" lang="zh-CN" altLang="en-US" b="1" i="0" u="none" strike="noStrike" kern="1200" cap="none" spc="0" normalizeH="0" baseline="0" noProof="0" dirty="0">
              <a:ln>
                <a:noFill/>
              </a:ln>
              <a:solidFill>
                <a:schemeClr val="tx1"/>
              </a:solidFill>
              <a:effectLst/>
              <a:uLnTx/>
              <a:uFillTx/>
              <a:latin typeface="+mn-lt"/>
              <a:ea typeface="+mn-ea"/>
              <a:cs typeface="+mn-cs"/>
            </a:endParaRPr>
          </a:p>
          <a:p>
            <a:pPr marL="171450" marR="0" lvl="0" indent="-171450" algn="l" defTabSz="914400" rtl="0" eaLnBrk="1" fontAlgn="base" latinLnBrk="0" hangingPunct="1">
              <a:lnSpc>
                <a:spcPct val="150000"/>
              </a:lnSpc>
              <a:spcBef>
                <a:spcPts val="750"/>
              </a:spcBef>
              <a:spcAft>
                <a:spcPct val="0"/>
              </a:spcAft>
              <a:buClrTx/>
              <a:buSzTx/>
              <a:buFont typeface="Arial" panose="020B0604020202020204" pitchFamily="34" charset="0"/>
              <a:buChar char="•"/>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教师</a:t>
            </a:r>
            <a:r>
              <a:rPr lang="zh-CN" altLang="en-US" b="1" noProof="0" dirty="0">
                <a:ln>
                  <a:noFill/>
                </a:ln>
                <a:effectLst/>
                <a:uLnTx/>
                <a:uFillTx/>
                <a:sym typeface="+mn-ea"/>
              </a:rPr>
              <a:t>录入</a:t>
            </a:r>
            <a:r>
              <a:rPr kumimoji="0" lang="zh-CN" altLang="en-US" b="1" i="0" u="none" strike="noStrike" kern="1200" cap="none" spc="0" normalizeH="0" baseline="0" noProof="0" dirty="0">
                <a:ln>
                  <a:noFill/>
                </a:ln>
                <a:solidFill>
                  <a:schemeClr val="tx1"/>
                </a:solidFill>
                <a:effectLst/>
                <a:uLnTx/>
                <a:uFillTx/>
                <a:latin typeface="+mn-lt"/>
                <a:ea typeface="+mn-ea"/>
                <a:cs typeface="+mn-cs"/>
              </a:rPr>
              <a:t>考试成绩后，学生可上网查询本课程成绩。</a:t>
            </a:r>
            <a:endParaRPr kumimoji="0" lang="zh-CN" altLang="en-US" b="1" i="0" u="none" strike="noStrike" kern="1200" cap="none" spc="0" normalizeH="0" baseline="0" noProof="0" dirty="0">
              <a:ln>
                <a:noFill/>
              </a:ln>
              <a:solidFill>
                <a:schemeClr val="tx1"/>
              </a:solidFill>
              <a:effectLst/>
              <a:uLnTx/>
              <a:uFillTx/>
              <a:latin typeface="+mn-lt"/>
              <a:ea typeface="+mn-ea"/>
              <a:cs typeface="+mn-cs"/>
            </a:endParaRPr>
          </a:p>
          <a:p>
            <a:pPr marL="171450" marR="0" lvl="0" indent="-171450" algn="l" defTabSz="914400" rtl="0" eaLnBrk="1" fontAlgn="base" latinLnBrk="0" hangingPunct="1">
              <a:lnSpc>
                <a:spcPct val="150000"/>
              </a:lnSpc>
              <a:spcBef>
                <a:spcPts val="750"/>
              </a:spcBef>
              <a:spcAft>
                <a:spcPct val="0"/>
              </a:spcAft>
              <a:buClrTx/>
              <a:buSzTx/>
              <a:buFont typeface="Arial" panose="020B0604020202020204" pitchFamily="34" charset="0"/>
              <a:buChar char="•"/>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教师一旦在教务系统中提交了课程成绩，不可再更改。确需更改成绩，教师须向教务处提出申请并提供试卷等相关材料。</a:t>
            </a:r>
            <a:endParaRPr kumimoji="0" lang="zh-CN" altLang="en-US" b="1" i="0" u="none" strike="noStrike" kern="1200" cap="none" spc="0" normalizeH="0" baseline="0" noProof="0" dirty="0">
              <a:ln>
                <a:noFill/>
              </a:ln>
              <a:solidFill>
                <a:schemeClr val="tx1"/>
              </a:solidFill>
              <a:effectLst/>
              <a:uLnTx/>
              <a:uFillTx/>
              <a:latin typeface="+mn-lt"/>
              <a:ea typeface="+mn-ea"/>
              <a:cs typeface="+mn-cs"/>
            </a:endParaRPr>
          </a:p>
        </p:txBody>
      </p:sp>
      <p:pic>
        <p:nvPicPr>
          <p:cNvPr id="4" name="图片 3" descr="CJ3036"/>
          <p:cNvPicPr>
            <a:picLocks noChangeAspect="1"/>
          </p:cNvPicPr>
          <p:nvPr/>
        </p:nvPicPr>
        <p:blipFill>
          <a:blip r:embed="rId1"/>
          <a:stretch>
            <a:fillRect/>
          </a:stretch>
        </p:blipFill>
        <p:spPr>
          <a:xfrm>
            <a:off x="1614170" y="639445"/>
            <a:ext cx="1027430" cy="751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2"/>
          <p:cNvSpPr>
            <a:spLocks noGrp="1"/>
          </p:cNvSpPr>
          <p:nvPr>
            <p:ph type="title"/>
          </p:nvPr>
        </p:nvSpPr>
        <p:spPr>
          <a:xfrm>
            <a:off x="2209483" y="188913"/>
            <a:ext cx="7772400" cy="1079500"/>
          </a:xfrm>
        </p:spPr>
        <p:txBody>
          <a:bodyPr vert="horz" wrap="square" lIns="91440" tIns="45720" rIns="91440" bIns="45720" anchor="ctr" anchorCtr="0">
            <a:normAutofit fontScale="90000"/>
          </a:bodyPr>
          <a:lstStyle/>
          <a:p>
            <a:pPr algn="ctr" eaLnBrk="1" hangingPunct="1"/>
            <a:br>
              <a:rPr lang="zh-CN" altLang="zh-CN" dirty="0">
                <a:solidFill>
                  <a:srgbClr val="FFFF00"/>
                </a:solidFill>
                <a:latin typeface="黑体" panose="02010609060101010101" charset="-122"/>
                <a:ea typeface="黑体" panose="02010609060101010101" charset="-122"/>
                <a:cs typeface="黑体" panose="02010609060101010101" charset="-122"/>
              </a:rPr>
            </a:br>
            <a:r>
              <a:rPr lang="zh-CN" altLang="en-US" dirty="0">
                <a:solidFill>
                  <a:srgbClr val="C00000"/>
                </a:solidFill>
                <a:effectLst>
                  <a:outerShdw blurRad="38100" dist="38100" dir="2700000" algn="tl">
                    <a:srgbClr val="000000">
                      <a:alpha val="43137"/>
                    </a:srgbClr>
                  </a:outerShdw>
                </a:effectLst>
                <a:latin typeface="黑体" panose="02010609060101010101" charset="-122"/>
                <a:ea typeface="黑体" panose="02010609060101010101" charset="-122"/>
                <a:cs typeface="黑体" panose="02010609060101010101" charset="-122"/>
              </a:rPr>
              <a:t>关于缓考与补考的规定</a:t>
            </a:r>
            <a:endParaRPr lang="zh-CN" altLang="en-US" dirty="0">
              <a:solidFill>
                <a:srgbClr val="C00000"/>
              </a:solidFill>
              <a:effectLst>
                <a:outerShdw blurRad="38100" dist="38100" dir="2700000" algn="tl">
                  <a:srgbClr val="000000">
                    <a:alpha val="43137"/>
                  </a:srgbClr>
                </a:outerShdw>
              </a:effectLst>
              <a:latin typeface="黑体" panose="02010609060101010101" charset="-122"/>
              <a:ea typeface="黑体" panose="02010609060101010101" charset="-122"/>
              <a:cs typeface="黑体" panose="02010609060101010101" charset="-122"/>
            </a:endParaRPr>
          </a:p>
        </p:txBody>
      </p:sp>
      <p:sp>
        <p:nvSpPr>
          <p:cNvPr id="19458" name="内容占位符 3"/>
          <p:cNvSpPr>
            <a:spLocks noGrp="1"/>
          </p:cNvSpPr>
          <p:nvPr>
            <p:ph idx="1"/>
          </p:nvPr>
        </p:nvSpPr>
        <p:spPr>
          <a:xfrm>
            <a:off x="880745" y="1494155"/>
            <a:ext cx="10083800" cy="4464050"/>
          </a:xfrm>
        </p:spPr>
        <p:txBody>
          <a:bodyPr vert="horz" wrap="square" lIns="91440" tIns="45720" rIns="91440" bIns="45720" anchor="t" anchorCtr="0">
            <a:normAutofit fontScale="90000"/>
          </a:bodyPr>
          <a:lstStyle/>
          <a:p>
            <a:pPr eaLnBrk="1" hangingPunct="1"/>
            <a:r>
              <a:rPr lang="zh-CN" altLang="zh-CN" b="1" kern="1200" dirty="0">
                <a:solidFill>
                  <a:schemeClr val="tx1"/>
                </a:solidFill>
                <a:latin typeface="+mn-lt"/>
                <a:ea typeface="+mn-ea"/>
                <a:cs typeface="+mn-cs"/>
              </a:rPr>
              <a:t>第二十六条　个别学生因特殊原因不能参加期末考试，</a:t>
            </a:r>
            <a:r>
              <a:rPr lang="zh-CN" altLang="zh-CN" b="1" kern="1200" dirty="0">
                <a:solidFill>
                  <a:srgbClr val="C00000"/>
                </a:solidFill>
                <a:latin typeface="+mn-lt"/>
                <a:ea typeface="+mn-ea"/>
                <a:cs typeface="+mn-cs"/>
              </a:rPr>
              <a:t>必须事先书面向学院申请缓考</a:t>
            </a:r>
            <a:r>
              <a:rPr lang="zh-CN" altLang="zh-CN" b="1" kern="1200" dirty="0">
                <a:solidFill>
                  <a:schemeClr val="tx1"/>
                </a:solidFill>
                <a:latin typeface="+mn-lt"/>
                <a:ea typeface="+mn-ea"/>
                <a:cs typeface="+mn-cs"/>
              </a:rPr>
              <a:t>，</a:t>
            </a:r>
            <a:r>
              <a:rPr lang="zh-CN" altLang="zh-CN" b="1" kern="1200" dirty="0">
                <a:solidFill>
                  <a:srgbClr val="C00000"/>
                </a:solidFill>
                <a:latin typeface="+mn-lt"/>
                <a:ea typeface="+mn-ea"/>
                <a:cs typeface="+mn-cs"/>
              </a:rPr>
              <a:t>经学院批准后方可参加下学期开学的缓考</a:t>
            </a:r>
            <a:r>
              <a:rPr lang="zh-CN" altLang="zh-CN" b="1" kern="1200" dirty="0">
                <a:solidFill>
                  <a:schemeClr val="tx1"/>
                </a:solidFill>
                <a:latin typeface="+mn-lt"/>
                <a:ea typeface="+mn-ea"/>
                <a:cs typeface="+mn-cs"/>
              </a:rPr>
              <a:t>。缓考的审批原则、办理流程详见《四川大学学生缓考暂行规定》。</a:t>
            </a:r>
            <a:endParaRPr lang="zh-CN" altLang="zh-CN" b="1" kern="1200" dirty="0">
              <a:solidFill>
                <a:schemeClr val="tx1"/>
              </a:solidFill>
              <a:latin typeface="+mn-lt"/>
              <a:ea typeface="+mn-ea"/>
              <a:cs typeface="+mn-cs"/>
            </a:endParaRPr>
          </a:p>
          <a:p>
            <a:pPr eaLnBrk="1" hangingPunct="1"/>
            <a:r>
              <a:rPr lang="zh-CN" altLang="zh-CN" b="1" kern="1200" dirty="0">
                <a:solidFill>
                  <a:schemeClr val="tx1"/>
                </a:solidFill>
                <a:latin typeface="+mn-lt"/>
                <a:ea typeface="+mn-ea"/>
                <a:cs typeface="+mn-cs"/>
              </a:rPr>
              <a:t>第二十七条　</a:t>
            </a:r>
            <a:r>
              <a:rPr lang="zh-CN" altLang="zh-CN" b="1" kern="1200" dirty="0">
                <a:solidFill>
                  <a:srgbClr val="C00000"/>
                </a:solidFill>
                <a:latin typeface="+mn-lt"/>
                <a:ea typeface="+mn-ea"/>
                <a:cs typeface="+mn-cs"/>
              </a:rPr>
              <a:t>必修课考试不及格，可参加一次补考，补考不及格者，必须重修。</a:t>
            </a:r>
            <a:r>
              <a:rPr lang="zh-CN" altLang="zh-CN" b="1" kern="1200" dirty="0">
                <a:solidFill>
                  <a:schemeClr val="tx1"/>
                </a:solidFill>
                <a:latin typeface="+mn-lt"/>
                <a:ea typeface="+mn-ea"/>
                <a:cs typeface="+mn-cs"/>
              </a:rPr>
              <a:t>取消期末考试资格、违纪作弊、重修、缺考的学生均不得参加补考。选修课程没有补考。</a:t>
            </a:r>
            <a:endParaRPr lang="zh-CN" altLang="zh-CN" b="1" kern="1200" dirty="0">
              <a:solidFill>
                <a:schemeClr val="tx1"/>
              </a:solidFill>
              <a:latin typeface="+mn-lt"/>
              <a:ea typeface="+mn-ea"/>
              <a:cs typeface="+mn-cs"/>
            </a:endParaRPr>
          </a:p>
          <a:p>
            <a:pPr eaLnBrk="1" hangingPunct="1"/>
            <a:r>
              <a:rPr lang="zh-CN" altLang="zh-CN" b="1" kern="1200" dirty="0">
                <a:solidFill>
                  <a:schemeClr val="tx1"/>
                </a:solidFill>
                <a:latin typeface="+mn-lt"/>
                <a:ea typeface="+mn-ea"/>
                <a:cs typeface="+mn-cs"/>
              </a:rPr>
              <a:t>第二十八条　</a:t>
            </a:r>
            <a:r>
              <a:rPr lang="zh-CN" altLang="zh-CN" b="1" kern="1200" dirty="0">
                <a:solidFill>
                  <a:srgbClr val="C00000"/>
                </a:solidFill>
                <a:latin typeface="+mn-lt"/>
                <a:ea typeface="+mn-ea"/>
                <a:cs typeface="+mn-cs"/>
              </a:rPr>
              <a:t>补考、缓考时间一般安排在下学期开学前，可能因实际情况调整，请补考或者缓考同学多注意相关通知</a:t>
            </a:r>
            <a:r>
              <a:rPr lang="zh-CN" altLang="zh-CN" b="1" kern="1200" dirty="0">
                <a:solidFill>
                  <a:schemeClr val="tx1"/>
                </a:solidFill>
                <a:latin typeface="+mn-lt"/>
                <a:ea typeface="+mn-ea"/>
                <a:cs typeface="+mn-cs"/>
              </a:rPr>
              <a:t>。缓考不及格或因故不能参加补考、缓考的学生，必须重修。</a:t>
            </a:r>
            <a:endParaRPr lang="zh-CN" altLang="zh-CN" b="1" kern="1200" dirty="0">
              <a:solidFill>
                <a:schemeClr val="tx1"/>
              </a:solidFill>
              <a:latin typeface="+mn-lt"/>
              <a:ea typeface="+mn-ea"/>
              <a:cs typeface="+mn-cs"/>
            </a:endParaRPr>
          </a:p>
          <a:p>
            <a:pPr eaLnBrk="1" hangingPunct="1"/>
            <a:endParaRPr lang="zh-CN" altLang="zh-CN" b="1" kern="1200" dirty="0">
              <a:solidFill>
                <a:schemeClr val="tx1"/>
              </a:solidFill>
              <a:latin typeface="+mn-lt"/>
              <a:ea typeface="+mn-ea"/>
              <a:cs typeface="+mn-cs"/>
            </a:endParaRPr>
          </a:p>
        </p:txBody>
      </p:sp>
      <p:pic>
        <p:nvPicPr>
          <p:cNvPr id="4" name="图片 3" descr="CJ3036"/>
          <p:cNvPicPr>
            <a:picLocks noChangeAspect="1"/>
          </p:cNvPicPr>
          <p:nvPr/>
        </p:nvPicPr>
        <p:blipFill>
          <a:blip r:embed="rId1"/>
          <a:stretch>
            <a:fillRect/>
          </a:stretch>
        </p:blipFill>
        <p:spPr>
          <a:xfrm>
            <a:off x="1450340" y="575310"/>
            <a:ext cx="1027430" cy="7518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WordArt 4"/>
          <p:cNvSpPr>
            <a:spLocks noTextEdit="1"/>
          </p:cNvSpPr>
          <p:nvPr/>
        </p:nvSpPr>
        <p:spPr>
          <a:xfrm>
            <a:off x="2807970" y="675640"/>
            <a:ext cx="6576060" cy="755650"/>
          </a:xfrm>
          <a:prstGeom prst="rect">
            <a:avLst/>
          </a:prstGeom>
        </p:spPr>
        <p:txBody>
          <a:bodyPr wrap="none" fromWordArt="1">
            <a:prstTxWarp prst="textPlain">
              <a:avLst>
                <a:gd name="adj" fmla="val 50000"/>
              </a:avLst>
            </a:prstTxWarp>
            <a:noAutofit/>
          </a:bodyPr>
          <a:lstStyle/>
          <a:p>
            <a:pPr algn="l"/>
            <a:r>
              <a:rPr lang="zh-CN" altLang="en-US" sz="4000">
                <a:ln w="19050" cap="flat" cmpd="sng">
                  <a:solidFill>
                    <a:schemeClr val="bg2">
                      <a:lumMod val="75000"/>
                    </a:schemeClr>
                  </a:solidFill>
                  <a:prstDash val="solid"/>
                  <a:round/>
                  <a:headEnd type="none" w="med" len="med"/>
                  <a:tailEnd type="none" w="med" len="med"/>
                </a:ln>
                <a:solidFill>
                  <a:srgbClr val="C00000"/>
                </a:solidFill>
                <a:effectLst>
                  <a:outerShdw dist="35921" dir="2699999" algn="ctr" rotWithShape="0">
                    <a:srgbClr val="990000"/>
                  </a:outerShdw>
                </a:effectLst>
                <a:latin typeface="黑体" panose="02010609060101010101" charset="-122"/>
                <a:ea typeface="黑体" panose="02010609060101010101" charset="-122"/>
              </a:rPr>
              <a:t>认真复习  诚信考试</a:t>
            </a:r>
            <a:endParaRPr lang="zh-CN" altLang="en-US" sz="4000">
              <a:ln w="19050" cap="flat" cmpd="sng">
                <a:solidFill>
                  <a:schemeClr val="bg2">
                    <a:lumMod val="75000"/>
                  </a:schemeClr>
                </a:solidFill>
                <a:prstDash val="solid"/>
                <a:round/>
                <a:headEnd type="none" w="med" len="med"/>
                <a:tailEnd type="none" w="med" len="med"/>
              </a:ln>
              <a:solidFill>
                <a:srgbClr val="C00000"/>
              </a:solidFill>
              <a:effectLst>
                <a:outerShdw dist="35921" dir="2699999" algn="ctr" rotWithShape="0">
                  <a:srgbClr val="990000"/>
                </a:outerShdw>
              </a:effectLst>
              <a:latin typeface="黑体" panose="02010609060101010101" charset="-122"/>
              <a:ea typeface="黑体" panose="02010609060101010101" charset="-122"/>
            </a:endParaRPr>
          </a:p>
        </p:txBody>
      </p:sp>
      <p:sp>
        <p:nvSpPr>
          <p:cNvPr id="20482" name="WordArt 6"/>
          <p:cNvSpPr>
            <a:spLocks noTextEdit="1"/>
          </p:cNvSpPr>
          <p:nvPr/>
        </p:nvSpPr>
        <p:spPr>
          <a:xfrm>
            <a:off x="2808605" y="1922145"/>
            <a:ext cx="6821805" cy="1137920"/>
          </a:xfrm>
          <a:prstGeom prst="rect">
            <a:avLst/>
          </a:prstGeom>
        </p:spPr>
        <p:txBody>
          <a:bodyPr wrap="none" fromWordArt="1">
            <a:prstTxWarp prst="textPlain">
              <a:avLst>
                <a:gd name="adj" fmla="val 50000"/>
              </a:avLst>
            </a:prstTxWarp>
            <a:normAutofit/>
          </a:bodyPr>
          <a:lstStyle/>
          <a:p>
            <a:pPr algn="l"/>
            <a:r>
              <a:rPr lang="zh-CN" altLang="en-US" sz="4400" b="1">
                <a:ln w="12700" cap="flat" cmpd="sng">
                  <a:solidFill>
                    <a:srgbClr val="EAEAEA"/>
                  </a:solidFill>
                  <a:prstDash val="solid"/>
                  <a:roun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blurRad="38100" dist="38100" dir="2700000" algn="tl">
                    <a:srgbClr val="000000">
                      <a:alpha val="43137"/>
                    </a:srgbClr>
                  </a:outerShdw>
                </a:effectLst>
                <a:latin typeface="黑体" panose="02010609060101010101" charset="-122"/>
                <a:ea typeface="黑体" panose="02010609060101010101" charset="-122"/>
              </a:rPr>
              <a:t>祝各位同学取得好成绩！</a:t>
            </a:r>
            <a:endParaRPr lang="zh-CN" altLang="en-US" sz="4400" b="1">
              <a:ln w="12700" cap="flat" cmpd="sng">
                <a:solidFill>
                  <a:srgbClr val="EAEAEA"/>
                </a:solidFill>
                <a:prstDash val="solid"/>
                <a:roun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blurRad="38100" dist="38100" dir="2700000" algn="tl">
                  <a:srgbClr val="000000">
                    <a:alpha val="43137"/>
                  </a:srgbClr>
                </a:outerShdw>
              </a:effectLst>
              <a:latin typeface="黑体" panose="02010609060101010101" charset="-122"/>
              <a:ea typeface="黑体" panose="02010609060101010101" charset="-122"/>
            </a:endParaRPr>
          </a:p>
        </p:txBody>
      </p:sp>
      <p:pic>
        <p:nvPicPr>
          <p:cNvPr id="100" name="图片 99"/>
          <p:cNvPicPr/>
          <p:nvPr>
            <p:custDataLst>
              <p:tags r:id="rId1"/>
            </p:custDataLst>
          </p:nvPr>
        </p:nvPicPr>
        <p:blipFill>
          <a:blip r:embed="rId2"/>
          <a:stretch>
            <a:fillRect/>
          </a:stretch>
        </p:blipFill>
        <p:spPr>
          <a:xfrm>
            <a:off x="3204845" y="3550920"/>
            <a:ext cx="5641340" cy="3237230"/>
          </a:xfrm>
          <a:prstGeom prst="rect">
            <a:avLst/>
          </a:prstGeom>
          <a:noFill/>
          <a:ln w="9525">
            <a:noFill/>
          </a:ln>
        </p:spPr>
      </p:pic>
    </p:spTree>
  </p:cSld>
  <p:clrMapOvr>
    <a:masterClrMapping/>
  </p:clrMapOvr>
</p:sld>
</file>

<file path=ppt/tags/tag1.xml><?xml version="1.0" encoding="utf-8"?>
<p:tagLst xmlns:p="http://schemas.openxmlformats.org/presentationml/2006/main">
  <p:tag name="MH" val="20150924163840"/>
  <p:tag name="MH_LIBRARY" val="GRAPHIC"/>
  <p:tag name="MH_ORDER" val="Straight Connector 13"/>
</p:tagLst>
</file>

<file path=ppt/tags/tag2.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PP_MARK_KEY" val="370a7dcf-0f84-43d5-b770-938ee5db35c5"/>
  <p:tag name="COMMONDATA" val="eyJoZGlkIjoiMDg2NjE2ZGU5ZTRhMDc1NGI1ZjRmMThmY2U3MmIyN2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2697</Words>
  <Application>WPS 演示</Application>
  <PresentationFormat>宽屏</PresentationFormat>
  <Paragraphs>180</Paragraphs>
  <Slides>24</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24</vt:i4>
      </vt:variant>
    </vt:vector>
  </HeadingPairs>
  <TitlesOfParts>
    <vt:vector size="39" baseType="lpstr">
      <vt:lpstr>Arial</vt:lpstr>
      <vt:lpstr>宋体</vt:lpstr>
      <vt:lpstr>Wingdings</vt:lpstr>
      <vt:lpstr>微软雅黑</vt:lpstr>
      <vt:lpstr>华文新魏</vt:lpstr>
      <vt:lpstr>Calibri</vt:lpstr>
      <vt:lpstr>黑体</vt:lpstr>
      <vt:lpstr>Times New Roman</vt:lpstr>
      <vt:lpstr>隶书</vt:lpstr>
      <vt:lpstr>楷体_GB2312</vt:lpstr>
      <vt:lpstr>新宋体</vt:lpstr>
      <vt:lpstr>Arial Unicode MS</vt:lpstr>
      <vt:lpstr>Calibri Light</vt:lpstr>
      <vt:lpstr>楷体</vt:lpstr>
      <vt:lpstr>Office 主题</vt:lpstr>
      <vt:lpstr>《思想道德与法治》</vt:lpstr>
      <vt:lpstr>   一、课程学习总结    </vt:lpstr>
      <vt:lpstr>本课程成绩构成</vt:lpstr>
      <vt:lpstr>考试题型及分值</vt:lpstr>
      <vt:lpstr>命题范围</vt:lpstr>
      <vt:lpstr>   绪论  担当复兴大任 成就时代新人</vt:lpstr>
      <vt:lpstr>  第一章  领悟人生真谛 把握人生方向</vt:lpstr>
      <vt:lpstr>  第二章  追求远大理想 坚定崇高信念</vt:lpstr>
      <vt:lpstr>第三章  继承优良传统 弘扬中国精神</vt:lpstr>
      <vt:lpstr>第四章  明确价值要求  践行价值准则</vt:lpstr>
      <vt:lpstr>  第五章  遵守道德规范  锤炼道德品格</vt:lpstr>
      <vt:lpstr>  第五章  遵守道德规范  锤炼道德品格</vt:lpstr>
      <vt:lpstr>  第六章  学习法治思想 提升法治素养</vt:lpstr>
      <vt:lpstr>  第六章  学习法治思想 提升法治素养</vt:lpstr>
      <vt:lpstr>   二、考试安排及要求    </vt:lpstr>
      <vt:lpstr>考  试  安  排</vt:lpstr>
      <vt:lpstr>考试纪律要求       </vt:lpstr>
      <vt:lpstr>本课程考试要求 </vt:lpstr>
      <vt:lpstr>本课程考试要求 </vt:lpstr>
      <vt:lpstr>诚信考试承诺</vt:lpstr>
      <vt:lpstr>答题纸（试卷）样式</vt:lpstr>
      <vt:lpstr>关于成绩查询</vt:lpstr>
      <vt:lpstr> 关于缓考与补考的规定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秦时＆明月</cp:lastModifiedBy>
  <cp:revision>179</cp:revision>
  <dcterms:created xsi:type="dcterms:W3CDTF">2018-08-29T14:32:00Z</dcterms:created>
  <dcterms:modified xsi:type="dcterms:W3CDTF">2024-12-07T13:47:47Z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KSORubyTemplateID">
    <vt:lpwstr>2</vt:lpwstr>
  </property>
  <property fmtid="{D5CDD505-2E9C-101B-9397-08002B2CF9AE}" pid="4" name="ICV">
    <vt:lpwstr>E2729E2EB14F45948A3C94F1694FAB04</vt:lpwstr>
  </property>
</Properties>
</file>